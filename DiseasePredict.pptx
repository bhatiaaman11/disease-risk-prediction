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Recall (%)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02-4907-B8BC-91D46CD1F5DB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02-4907-B8BC-91D46CD1F5DB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02-4907-B8BC-91D46CD1F5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Gradient Boost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90.9</c:v>
                </c:pt>
                <c:pt idx="1">
                  <c:v>89.8</c:v>
                </c:pt>
                <c:pt idx="2">
                  <c:v>88.6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02-4907-B8BC-91D46CD1F5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Top Features — SHAP Impact Score (higher = more influence)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SHAP Impact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Thalassemia</c:v>
                </c:pt>
                <c:pt idx="1">
                  <c:v># Vessels (ca)</c:v>
                </c:pt>
                <c:pt idx="2">
                  <c:v>Chest Pain Type</c:v>
                </c:pt>
                <c:pt idx="3">
                  <c:v>Max Heart Rate</c:v>
                </c:pt>
                <c:pt idx="4">
                  <c:v>ST Depression</c:v>
                </c:pt>
                <c:pt idx="5">
                  <c:v>Exercise Angina</c:v>
                </c:pt>
                <c:pt idx="6">
                  <c:v>Age</c:v>
                </c:pt>
                <c:pt idx="7">
                  <c:v>Sex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48</c:v>
                </c:pt>
                <c:pt idx="2">
                  <c:v>41</c:v>
                </c:pt>
                <c:pt idx="3">
                  <c:v>38</c:v>
                </c:pt>
                <c:pt idx="4">
                  <c:v>34</c:v>
                </c:pt>
                <c:pt idx="5">
                  <c:v>28</c:v>
                </c:pt>
                <c:pt idx="6">
                  <c:v>21</c:v>
                </c:pt>
                <c:pt idx="7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8-4A90-A69B-5A50F1C2BA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113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1" y="3200400"/>
            <a:ext cx="9144000" cy="1943100"/>
          </a:xfrm>
          <a:prstGeom prst="rect">
            <a:avLst/>
          </a:prstGeom>
          <a:solidFill>
            <a:srgbClr val="162338"/>
          </a:solidFill>
          <a:ln w="12700">
            <a:solidFill>
              <a:srgbClr val="162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8211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457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73736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Clinical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Classification  •  UCI Heart Disease Dataset  •  DAMG6105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794760"/>
            <a:ext cx="1920240" cy="82296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822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Patients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Dataset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3794760"/>
            <a:ext cx="1920240" cy="82296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3822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060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Inputs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794760"/>
            <a:ext cx="1920240" cy="82296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3822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Recall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54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03720" y="3794760"/>
            <a:ext cx="1920240" cy="82296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03720" y="3822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037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early heart disease prediction matter?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618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#1 cause of death globally - yet many cases are preventable with early detection.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often appear only after significant cardiac damage has already occurred.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2900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29000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rely on dozens of test results - easy to miss subtle patterns across variables.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26480" y="19202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6364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varies by clinician and institution, leading to unequal patient outcomes.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177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train a model on clinical data to flag high-risk patients automatically and explain why.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- 918 patients, 13 clinical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1298448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1298448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17520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298448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1298448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40880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773936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017520" y="1773936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1752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1773936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ECG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040880" y="1773936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4088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2249424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0584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017520" y="2249424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01752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0" y="2249424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Slope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40880" y="2249424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04088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Vessels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05840" y="2724912"/>
            <a:ext cx="1828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05840" y="2724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3219692"/>
            <a:ext cx="8229600" cy="347472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Binary - 0 = No Disease  |  1 = Disease Present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35842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57200" y="3950004"/>
            <a:ext cx="126187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3944983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719072" y="3950004"/>
            <a:ext cx="173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892808" y="3939958"/>
            <a:ext cx="126187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892808" y="393995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154680" y="3950004"/>
            <a:ext cx="173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328416" y="3944983"/>
            <a:ext cx="126187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328416" y="39449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90288" y="3950004"/>
            <a:ext cx="173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764024" y="3929912"/>
            <a:ext cx="126187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764024" y="39299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025896" y="3950004"/>
            <a:ext cx="173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199632" y="3950004"/>
            <a:ext cx="126187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199632" y="395000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461504" y="3950004"/>
            <a:ext cx="173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7635240" y="3950004"/>
            <a:ext cx="126187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635240" y="395000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4500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ca (66% missing) &amp; thal (53% missing) handled with missing indicators + KNN imputation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trained and compared on the same val/test splits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66132"/>
              </p:ext>
            </p:extLst>
          </p:nvPr>
        </p:nvGraphicFramePr>
        <p:xfrm>
          <a:off x="457200" y="1234440"/>
          <a:ext cx="8595360" cy="17556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Selected?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86.9%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84.5%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93.4%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88.7%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✔ Yes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85.5%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84.2%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88.6%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86.4%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86.2%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85.1%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89.8%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87.4%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(90.9%) — crucial for medical screening; missing a sick patient is costlier than a false alarm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 — coefficients directly show feature influence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naturally with SHAP for per-patient explanations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to 0.45 to further boost recall on the test set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303520" y="3200400"/>
          <a:ext cx="34747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with SHAP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clinical features drive disease risk predictions?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3444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answers the black-box problem — it shows exactly how much each feature pushed a prediction toward or away from disease.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87452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87452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669280" y="1874520"/>
            <a:ext cx="3017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0644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Insight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064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type, number of blocked vessels, and chest pain type are the three strongest predictors — aligning with established cardiology evidence.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0" y="338328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669280" y="3383280"/>
            <a:ext cx="3017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806440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Insight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0644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individual patient, SHAP shows a waterfall explaining why the model predicted disease — enabling doctor–patient conversations.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raw patient data → risk score → explanation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94752"/>
            <a:ext cx="137160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0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8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37360" y="16062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258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BP, ECG…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1194752"/>
            <a:ext cx="1371600" cy="1371600"/>
          </a:xfrm>
          <a:prstGeom prst="rect">
            <a:avLst/>
          </a:prstGeom>
          <a:solidFill>
            <a:srgbClr val="334D6E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30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178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74720" y="16062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103120" y="258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→ encode → scale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0" y="1194752"/>
            <a:ext cx="13716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304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178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12080" y="16062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3840480" y="258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0.45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77840" y="1194752"/>
            <a:ext cx="1371600" cy="1371600"/>
          </a:xfrm>
          <a:prstGeom prst="rect">
            <a:avLst/>
          </a:prstGeom>
          <a:solidFill>
            <a:srgbClr val="0A7568"/>
          </a:solidFill>
          <a:ln w="12700">
            <a:solidFill>
              <a:srgbClr val="0A7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304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178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949440" y="16062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5577840" y="258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15200" y="1194752"/>
            <a:ext cx="13716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304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178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315200" y="258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/ No Risk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65760" y="284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Patient Input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128188"/>
              </p:ext>
            </p:extLst>
          </p:nvPr>
        </p:nvGraphicFramePr>
        <p:xfrm>
          <a:off x="365760" y="3128772"/>
          <a:ext cx="4029389" cy="1813560"/>
        </p:xfrm>
        <a:graphic>
          <a:graphicData uri="http://schemas.openxmlformats.org/drawingml/2006/table">
            <a:tbl>
              <a:tblPr/>
              <a:tblGrid>
                <a:gridCol w="251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Chest Pain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Asymptomatic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 Heart 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114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Exercise Angina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 Depression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Shape 23"/>
          <p:cNvSpPr/>
          <p:nvPr/>
        </p:nvSpPr>
        <p:spPr>
          <a:xfrm>
            <a:off x="4754880" y="3182112"/>
            <a:ext cx="3931920" cy="17830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489204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89204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RISK — Disease Predicted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892040" y="4069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0.78  |  Threshold: 0.45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driver: Asymptomatic chest pain 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Second: Exercise-induced angina 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make the system more accurate and useful?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&amp; Diverse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18013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multi-hospital, multi-country datasets to reduce regional bias and improve generalization across demographics.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99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 Engineering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64992" y="18013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derived features like pulse pressure, cholesterol ratios, and interaction terms between age and exercise variables.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64008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990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Deep Learning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99632" y="18013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models via stacking, or explore neural networks on richer datasets (e.g. ECG time-series data).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1089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7355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Hyperparameter Tuning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0352" y="36758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threshold tuning with Bayesian optimization or grid search across all model parameters simultaneously.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31089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0" y="3108960"/>
            <a:ext cx="64008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7355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Monitoring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64992" y="36758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wearable devices (heart rate, SpO2) to produce continuous, updated risk scores rather than one-time predictions.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1089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035040" y="310896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27355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01968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99632" y="36758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hospitals to validate predictions against real outcomes — bridging the gap between ML performance and clinical trust.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beats complex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Random Forest &amp; Gradient Boosting on recall — the metric that matters most for medical screening.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160020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091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59552" y="13258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everything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59552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with 50–66% missing values were saved using missing indicators + KNN imputation, preserving clinically critical signals.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3154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builds 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5661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transforms the model from a black box into a clinical tool, surfacing thalassemia, vessel count, and chest pain as top drivers.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023360" cy="1600200"/>
          </a:xfrm>
          <a:prstGeom prst="rect">
            <a:avLst/>
          </a:prstGeom>
          <a:solidFill>
            <a:srgbClr val="243554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0912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59552" y="3154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59552" y="35661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decision threshold from 0.5 → 0.45 improved recall without sacrificing overall accuracy — a small tweak with real clinical impact.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happy to walk through the code, model choices, or SHAP outputs.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819</Words>
  <Application>Microsoft Office PowerPoint</Application>
  <PresentationFormat>On-screen Show (16:9)</PresentationFormat>
  <Paragraphs>167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Prediction System</dc:title>
  <dc:subject>PptxGenJS Presentation</dc:subject>
  <dc:creator>PptxGenJS</dc:creator>
  <cp:lastModifiedBy>Amanpreet Bhatia</cp:lastModifiedBy>
  <cp:revision>5</cp:revision>
  <dcterms:created xsi:type="dcterms:W3CDTF">2026-04-15T20:18:50Z</dcterms:created>
  <dcterms:modified xsi:type="dcterms:W3CDTF">2026-04-16T02:36:06Z</dcterms:modified>
</cp:coreProperties>
</file>