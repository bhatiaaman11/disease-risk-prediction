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5" r:id="rId8"/>
    <p:sldId id="264" r:id="rId9"/>
    <p:sldId id="262"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A3B8"/>
    <a:srgbClr val="1B2A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F7F8A-5186-1124-7562-F6464BC5493E}" v="642" dt="2026-04-18T02:52:24.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74600" autoAdjust="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2A4A"/>
                </a:solidFill>
                <a:latin typeface="Arial"/>
              </a:defRPr>
            </a:pPr>
            <a:r>
              <a:rPr lang="en-US" sz="1100" b="0" i="0" u="none" strike="noStrike">
                <a:solidFill>
                  <a:srgbClr val="1B2A4A"/>
                </a:solidFill>
                <a:latin typeface="Arial"/>
              </a:rPr>
              <a:t>Recall (%) by Model</a:t>
            </a:r>
          </a:p>
        </c:rich>
      </c:tx>
      <c:overlay val="0"/>
    </c:title>
    <c:autoTitleDeleted val="0"/>
    <c:plotArea>
      <c:layout/>
      <c:barChart>
        <c:barDir val="col"/>
        <c:grouping val="clustered"/>
        <c:varyColors val="0"/>
        <c:ser>
          <c:idx val="0"/>
          <c:order val="0"/>
          <c:tx>
            <c:strRef>
              <c:f>Sheet1!$B$1</c:f>
              <c:strCache>
                <c:ptCount val="1"/>
                <c:pt idx="0">
                  <c:v>Recall</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E202-4907-B8BC-91D46CD1F5DB}"/>
              </c:ext>
            </c:extLst>
          </c:dPt>
          <c:dPt>
            <c:idx val="1"/>
            <c:invertIfNegative val="0"/>
            <c:bubble3D val="0"/>
            <c:spPr>
              <a:solidFill>
                <a:srgbClr val="94A3B8"/>
              </a:solidFill>
              <a:effectLst/>
            </c:spPr>
            <c:extLst>
              <c:ext xmlns:c16="http://schemas.microsoft.com/office/drawing/2014/chart" uri="{C3380CC4-5D6E-409C-BE32-E72D297353CC}">
                <c16:uniqueId val="{00000003-E202-4907-B8BC-91D46CD1F5DB}"/>
              </c:ext>
            </c:extLst>
          </c:dPt>
          <c:dPt>
            <c:idx val="2"/>
            <c:invertIfNegative val="0"/>
            <c:bubble3D val="0"/>
            <c:spPr>
              <a:solidFill>
                <a:srgbClr val="94A3B8"/>
              </a:solidFill>
              <a:effectLst/>
            </c:spPr>
            <c:extLst>
              <c:ext xmlns:c16="http://schemas.microsoft.com/office/drawing/2014/chart" uri="{C3380CC4-5D6E-409C-BE32-E72D297353CC}">
                <c16:uniqueId val="{00000005-E202-4907-B8BC-91D46CD1F5DB}"/>
              </c:ext>
            </c:extLst>
          </c:dPt>
          <c:dPt>
            <c:idx val="3"/>
            <c:invertIfNegative val="0"/>
            <c:bubble3D val="0"/>
            <c:spPr>
              <a:solidFill>
                <a:srgbClr val="94A3B8"/>
              </a:solidFill>
              <a:effectLst/>
            </c:spPr>
            <c:extLst>
              <c:ext xmlns:c16="http://schemas.microsoft.com/office/drawing/2014/chart" uri="{C3380CC4-5D6E-409C-BE32-E72D297353CC}">
                <c16:uniqueId val="{00000006-4281-4C21-B532-AF4A4F9FA3E7}"/>
              </c:ext>
            </c:extLst>
          </c:dPt>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Gradient Boost</c:v>
                </c:pt>
                <c:pt idx="2">
                  <c:v>Random Forest</c:v>
                </c:pt>
                <c:pt idx="3">
                  <c:v>XGBoost</c:v>
                </c:pt>
              </c:strCache>
            </c:strRef>
          </c:cat>
          <c:val>
            <c:numRef>
              <c:f>Sheet1!$B$2:$B$5</c:f>
              <c:numCache>
                <c:formatCode>General</c:formatCode>
                <c:ptCount val="4"/>
                <c:pt idx="0">
                  <c:v>93.4</c:v>
                </c:pt>
                <c:pt idx="1">
                  <c:v>92.2</c:v>
                </c:pt>
                <c:pt idx="2">
                  <c:v>90.9</c:v>
                </c:pt>
                <c:pt idx="3">
                  <c:v>92.2</c:v>
                </c:pt>
              </c:numCache>
            </c:numRef>
          </c:val>
          <c:extLst>
            <c:ext xmlns:c16="http://schemas.microsoft.com/office/drawing/2014/chart" uri="{C3380CC4-5D6E-409C-BE32-E72D297353CC}">
              <c16:uniqueId val="{00000006-E202-4907-B8BC-91D46CD1F5D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min val="8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113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How our prediction model work: A patient clinical data such as age, sex, BP, cholesterol </a:t>
            </a:r>
            <a:r>
              <a:rPr lang="en-US" dirty="0" err="1"/>
              <a:t>etc</a:t>
            </a:r>
            <a:r>
              <a:rPr lang="en-US" dirty="0"/>
              <a:t> enters the pipeline. Missing values get imputed, categorical data gets encoded and all the values are </a:t>
            </a:r>
            <a:r>
              <a:rPr lang="en-US" dirty="0" err="1"/>
              <a:t>are</a:t>
            </a:r>
            <a:r>
              <a:rPr lang="en-US" dirty="0"/>
              <a:t> standardize. The logistic regression model outputs a probability score – it </a:t>
            </a:r>
            <a:r>
              <a:rPr lang="en-US" dirty="0" err="1"/>
              <a:t>it</a:t>
            </a:r>
            <a:r>
              <a:rPr lang="en-US" dirty="0"/>
              <a:t> exceeds the 0.45 threshold, the patient is flagged as at risk. SHAP generates a per patient explanation showing which features drove the prediction.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slide shows a concrete example of how the model works in practice. On the left, we have a sample low-risk patient — a 35-year-old female with normal vitals, no exercise angina, and normal thalassemia. When we feed this into our trained pipeline, the model outputs a low probability score — well below the 0.45 threshold — so the patient is classified as No Risk. The key point here is that the system doesn't just give a yes or no — it processes real clinical inputs through the same preprocessing, scaling, and prediction steps we discussed. This makes it practical for integration into a clinical workflow.</a:t>
            </a:r>
          </a:p>
        </p:txBody>
      </p:sp>
    </p:spTree>
    <p:extLst>
      <p:ext uri="{BB962C8B-B14F-4D97-AF65-F5344CB8AC3E}">
        <p14:creationId xmlns:p14="http://schemas.microsoft.com/office/powerpoint/2010/main" val="367801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Looking ahead, there are six directions we can take this project. First, training on larger, multi-hospital datasets would reduce bias and improve generalization. Second, we can engineer new features like pulse pressure or cholesterol ratios. Third, ensemble methods or deep learning could improve accuracy on richer data. Fourth, automated hyperparameter tuning with Bayesian optimization would make it efficient and automate decision </a:t>
            </a:r>
            <a:r>
              <a:rPr lang="en-US" dirty="0" err="1"/>
              <a:t>yhreshold</a:t>
            </a:r>
            <a:r>
              <a:rPr lang="en-US" dirty="0"/>
              <a:t> selection across models. Fifth, wearable device integration could enable continuous risk monitoring instead of one-time predictions. And finally — and this is important — our entire pipeline is disease-agnostic. The same preprocessing, training, and SHAP explanation architecture can be reused for diabetes, lung cancer, or any other disease — just swap in a new dataset, retrain, and deploy.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Four key takeaways from our project. First, simple models can beat complex ones — Logistic Regression outperformed Random Forest and Gradient Boosting on recall, which is what matters most in medical screening. Second, data quality is critical — we saved two features with over 50 percent missing data using KNN imputation and missing indicators, preserving clinically important signals. Third, explainability builds trust — SHAP transforms the model from a black box into something a doctor can actually discuss with a patient, highlighting exercise angina, ST depression, and chest pain as top drivers. Fourth, small tuning decisions matter — lowering the threshold from 0.5 to 0.45 improved recall without hurting overall accuracy. </a:t>
            </a:r>
          </a:p>
          <a:p>
            <a:endParaRPr lang="en-US" dirty="0"/>
          </a:p>
          <a:p>
            <a:r>
              <a:rPr lang="en-US" dirty="0"/>
              <a:t>Happy to take any questions about the code, model choices, or SHAP outputs.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2165420"/>
            <a:ext cx="9144000" cy="1472485"/>
          </a:xfrm>
          <a:prstGeom prst="rect">
            <a:avLst/>
          </a:prstGeom>
          <a:solidFill>
            <a:srgbClr val="162338"/>
          </a:solidFill>
          <a:ln w="12700">
            <a:solidFill>
              <a:srgbClr val="162338"/>
            </a:solidFill>
            <a:prstDash val="solid"/>
          </a:ln>
        </p:spPr>
        <p:txBody>
          <a:bodyPr/>
          <a:lstStyle/>
          <a:p>
            <a:endParaRPr lang="en-US"/>
          </a:p>
        </p:txBody>
      </p:sp>
      <p:sp>
        <p:nvSpPr>
          <p:cNvPr id="3" name="Shape 1"/>
          <p:cNvSpPr/>
          <p:nvPr/>
        </p:nvSpPr>
        <p:spPr>
          <a:xfrm>
            <a:off x="0" y="2096888"/>
            <a:ext cx="9144000" cy="54864"/>
          </a:xfrm>
          <a:prstGeom prst="rect">
            <a:avLst/>
          </a:prstGeom>
          <a:solidFill>
            <a:srgbClr val="0D9488"/>
          </a:solidFill>
          <a:ln w="12700">
            <a:solidFill>
              <a:srgbClr val="0D948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457200"/>
            <a:ext cx="1005840" cy="1005840"/>
          </a:xfrm>
          <a:prstGeom prst="rect">
            <a:avLst/>
          </a:prstGeom>
        </p:spPr>
      </p:pic>
      <p:sp>
        <p:nvSpPr>
          <p:cNvPr id="5" name="Text 2"/>
          <p:cNvSpPr/>
          <p:nvPr/>
        </p:nvSpPr>
        <p:spPr>
          <a:xfrm>
            <a:off x="1737360" y="457200"/>
            <a:ext cx="68580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Disease Prediction System</a:t>
            </a:r>
            <a:endParaRPr lang="en-US" sz="3600" dirty="0"/>
          </a:p>
        </p:txBody>
      </p:sp>
      <p:sp>
        <p:nvSpPr>
          <p:cNvPr id="6" name="Text 3"/>
          <p:cNvSpPr/>
          <p:nvPr/>
        </p:nvSpPr>
        <p:spPr>
          <a:xfrm>
            <a:off x="1737360" y="1143000"/>
            <a:ext cx="6858000" cy="365760"/>
          </a:xfrm>
          <a:prstGeom prst="rect">
            <a:avLst/>
          </a:prstGeom>
          <a:noFill/>
          <a:ln/>
        </p:spPr>
        <p:txBody>
          <a:bodyPr wrap="square" lIns="0" tIns="0" rIns="0" bIns="0" rtlCol="0" anchor="ctr"/>
          <a:lstStyle/>
          <a:p>
            <a:pPr marL="0" indent="0">
              <a:buNone/>
            </a:pPr>
            <a:r>
              <a:rPr lang="en-US" sz="1800" i="1" dirty="0">
                <a:solidFill>
                  <a:srgbClr val="CCFBF1"/>
                </a:solidFill>
                <a:latin typeface="Calibri" pitchFamily="34" charset="0"/>
                <a:ea typeface="Calibri" pitchFamily="34" charset="-122"/>
                <a:cs typeface="Calibri" pitchFamily="34" charset="-120"/>
              </a:rPr>
              <a:t>Using Machine Learning &amp; Clinical Data</a:t>
            </a:r>
            <a:endParaRPr lang="en-US" sz="1800" dirty="0"/>
          </a:p>
        </p:txBody>
      </p:sp>
      <p:sp>
        <p:nvSpPr>
          <p:cNvPr id="7" name="Text 4"/>
          <p:cNvSpPr/>
          <p:nvPr/>
        </p:nvSpPr>
        <p:spPr>
          <a:xfrm>
            <a:off x="457200" y="2267916"/>
            <a:ext cx="8229600" cy="32004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Heart Disease Risk Classification  •  UCI Heart Disease Dataset  •  DAMG6105</a:t>
            </a:r>
            <a:endParaRPr lang="en-US" sz="1200" dirty="0"/>
          </a:p>
        </p:txBody>
      </p:sp>
      <p:sp>
        <p:nvSpPr>
          <p:cNvPr id="8" name="Shape 5"/>
          <p:cNvSpPr/>
          <p:nvPr/>
        </p:nvSpPr>
        <p:spPr>
          <a:xfrm>
            <a:off x="457200" y="2679396"/>
            <a:ext cx="1920240" cy="822960"/>
          </a:xfrm>
          <a:prstGeom prst="rect">
            <a:avLst/>
          </a:prstGeom>
          <a:solidFill>
            <a:srgbClr val="243554"/>
          </a:solidFill>
          <a:ln w="12700">
            <a:solidFill>
              <a:srgbClr val="334D6E"/>
            </a:solidFill>
            <a:prstDash val="solid"/>
          </a:ln>
        </p:spPr>
        <p:txBody>
          <a:bodyPr/>
          <a:lstStyle/>
          <a:p>
            <a:endParaRPr lang="en-US"/>
          </a:p>
        </p:txBody>
      </p:sp>
      <p:sp>
        <p:nvSpPr>
          <p:cNvPr id="9" name="Text 6"/>
          <p:cNvSpPr/>
          <p:nvPr/>
        </p:nvSpPr>
        <p:spPr>
          <a:xfrm>
            <a:off x="457200" y="2706828"/>
            <a:ext cx="1920240" cy="384048"/>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920 Patients</a:t>
            </a:r>
            <a:endParaRPr lang="en-US" sz="1400" dirty="0"/>
          </a:p>
        </p:txBody>
      </p:sp>
      <p:sp>
        <p:nvSpPr>
          <p:cNvPr id="10" name="Text 7"/>
          <p:cNvSpPr/>
          <p:nvPr/>
        </p:nvSpPr>
        <p:spPr>
          <a:xfrm>
            <a:off x="457200" y="3090876"/>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UCI Dataset</a:t>
            </a:r>
            <a:endParaRPr lang="en-US" sz="1000" dirty="0"/>
          </a:p>
        </p:txBody>
      </p:sp>
      <p:sp>
        <p:nvSpPr>
          <p:cNvPr id="11" name="Shape 8"/>
          <p:cNvSpPr/>
          <p:nvPr/>
        </p:nvSpPr>
        <p:spPr>
          <a:xfrm>
            <a:off x="2606040" y="2679396"/>
            <a:ext cx="1920240" cy="822960"/>
          </a:xfrm>
          <a:prstGeom prst="rect">
            <a:avLst/>
          </a:prstGeom>
          <a:solidFill>
            <a:srgbClr val="243554"/>
          </a:solidFill>
          <a:ln w="12700">
            <a:solidFill>
              <a:srgbClr val="334D6E"/>
            </a:solidFill>
            <a:prstDash val="solid"/>
          </a:ln>
        </p:spPr>
        <p:txBody>
          <a:bodyPr/>
          <a:lstStyle/>
          <a:p>
            <a:endParaRPr lang="en-US"/>
          </a:p>
        </p:txBody>
      </p:sp>
      <p:sp>
        <p:nvSpPr>
          <p:cNvPr id="12" name="Text 9"/>
          <p:cNvSpPr/>
          <p:nvPr/>
        </p:nvSpPr>
        <p:spPr>
          <a:xfrm>
            <a:off x="2606040" y="2706828"/>
            <a:ext cx="1920240" cy="384048"/>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15 Features</a:t>
            </a:r>
            <a:endParaRPr lang="en-US" sz="1400" dirty="0"/>
          </a:p>
        </p:txBody>
      </p:sp>
      <p:sp>
        <p:nvSpPr>
          <p:cNvPr id="13" name="Text 10"/>
          <p:cNvSpPr/>
          <p:nvPr/>
        </p:nvSpPr>
        <p:spPr>
          <a:xfrm>
            <a:off x="2606040" y="3090876"/>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Clinical Inputs</a:t>
            </a:r>
            <a:endParaRPr lang="en-US" sz="1000" dirty="0"/>
          </a:p>
        </p:txBody>
      </p:sp>
      <p:sp>
        <p:nvSpPr>
          <p:cNvPr id="14" name="Shape 11"/>
          <p:cNvSpPr/>
          <p:nvPr/>
        </p:nvSpPr>
        <p:spPr>
          <a:xfrm>
            <a:off x="4754880" y="2679396"/>
            <a:ext cx="1920240" cy="822960"/>
          </a:xfrm>
          <a:prstGeom prst="rect">
            <a:avLst/>
          </a:prstGeom>
          <a:solidFill>
            <a:srgbClr val="243554"/>
          </a:solidFill>
          <a:ln w="12700">
            <a:solidFill>
              <a:srgbClr val="334D6E"/>
            </a:solidFill>
            <a:prstDash val="solid"/>
          </a:ln>
        </p:spPr>
        <p:txBody>
          <a:bodyPr/>
          <a:lstStyle/>
          <a:p>
            <a:endParaRPr lang="en-US"/>
          </a:p>
        </p:txBody>
      </p:sp>
      <p:sp>
        <p:nvSpPr>
          <p:cNvPr id="15" name="Text 12"/>
          <p:cNvSpPr/>
          <p:nvPr/>
        </p:nvSpPr>
        <p:spPr>
          <a:xfrm>
            <a:off x="4754880" y="2706828"/>
            <a:ext cx="1920240" cy="384048"/>
          </a:xfrm>
          <a:prstGeom prst="rect">
            <a:avLst/>
          </a:prstGeom>
          <a:noFill/>
          <a:ln/>
        </p:spPr>
        <p:txBody>
          <a:bodyPr wrap="square" lIns="0" tIns="0" rIns="0" bIns="0" rtlCol="0" anchor="ctr"/>
          <a:lstStyle/>
          <a:p>
            <a:pPr algn="ctr"/>
            <a:r>
              <a:rPr lang="en-US" sz="1400" b="1">
                <a:solidFill>
                  <a:srgbClr val="0D9488"/>
                </a:solidFill>
                <a:latin typeface="Calibri"/>
                <a:ea typeface="Calibri"/>
                <a:cs typeface="Calibri"/>
              </a:rPr>
              <a:t>93% Recall</a:t>
            </a:r>
            <a:endParaRPr lang="en-US"/>
          </a:p>
        </p:txBody>
      </p:sp>
      <p:sp>
        <p:nvSpPr>
          <p:cNvPr id="16" name="Text 13"/>
          <p:cNvSpPr/>
          <p:nvPr/>
        </p:nvSpPr>
        <p:spPr>
          <a:xfrm>
            <a:off x="4754880" y="3090876"/>
            <a:ext cx="1920240" cy="274320"/>
          </a:xfrm>
          <a:prstGeom prst="rect">
            <a:avLst/>
          </a:prstGeom>
          <a:noFill/>
          <a:ln/>
        </p:spPr>
        <p:txBody>
          <a:bodyPr wrap="square" lIns="0" tIns="0" rIns="0" bIns="0" rtlCol="0" anchor="ctr"/>
          <a:lstStyle/>
          <a:p>
            <a:pPr algn="ctr"/>
            <a:r>
              <a:rPr lang="en-US" sz="1000">
                <a:solidFill>
                  <a:srgbClr val="94A3B8"/>
                </a:solidFill>
                <a:ea typeface="+mn-lt"/>
                <a:cs typeface="+mn-lt"/>
              </a:rPr>
              <a:t>Disease Detection Rate</a:t>
            </a:r>
            <a:endParaRPr lang="en-US"/>
          </a:p>
        </p:txBody>
      </p:sp>
      <p:sp>
        <p:nvSpPr>
          <p:cNvPr id="17" name="Shape 14"/>
          <p:cNvSpPr/>
          <p:nvPr/>
        </p:nvSpPr>
        <p:spPr>
          <a:xfrm>
            <a:off x="6903720" y="2679396"/>
            <a:ext cx="1920240" cy="822960"/>
          </a:xfrm>
          <a:prstGeom prst="rect">
            <a:avLst/>
          </a:prstGeom>
          <a:solidFill>
            <a:srgbClr val="243554"/>
          </a:solidFill>
          <a:ln w="12700">
            <a:solidFill>
              <a:srgbClr val="334D6E"/>
            </a:solidFill>
            <a:prstDash val="solid"/>
          </a:ln>
        </p:spPr>
        <p:txBody>
          <a:bodyPr/>
          <a:lstStyle/>
          <a:p>
            <a:endParaRPr lang="en-US"/>
          </a:p>
        </p:txBody>
      </p:sp>
      <p:sp>
        <p:nvSpPr>
          <p:cNvPr id="18" name="Text 15"/>
          <p:cNvSpPr/>
          <p:nvPr/>
        </p:nvSpPr>
        <p:spPr>
          <a:xfrm>
            <a:off x="6903720" y="2706828"/>
            <a:ext cx="1920240" cy="384048"/>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SHAP</a:t>
            </a:r>
            <a:endParaRPr lang="en-US" sz="1400" dirty="0"/>
          </a:p>
        </p:txBody>
      </p:sp>
      <p:sp>
        <p:nvSpPr>
          <p:cNvPr id="19" name="Text 16"/>
          <p:cNvSpPr/>
          <p:nvPr/>
        </p:nvSpPr>
        <p:spPr>
          <a:xfrm>
            <a:off x="6903720" y="3090876"/>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Explainability</a:t>
            </a:r>
            <a:endParaRPr lang="en-US" sz="1000" dirty="0"/>
          </a:p>
        </p:txBody>
      </p:sp>
      <p:sp>
        <p:nvSpPr>
          <p:cNvPr id="20" name="TextBox 19">
            <a:extLst>
              <a:ext uri="{FF2B5EF4-FFF2-40B4-BE49-F238E27FC236}">
                <a16:creationId xmlns:a16="http://schemas.microsoft.com/office/drawing/2014/main" id="{70D035D8-CD41-6690-EC0A-D46C9D7D683B}"/>
              </a:ext>
            </a:extLst>
          </p:cNvPr>
          <p:cNvSpPr txBox="1"/>
          <p:nvPr/>
        </p:nvSpPr>
        <p:spPr>
          <a:xfrm>
            <a:off x="2652765" y="4449008"/>
            <a:ext cx="3577213" cy="461665"/>
          </a:xfrm>
          <a:prstGeom prst="rect">
            <a:avLst/>
          </a:prstGeom>
          <a:noFill/>
        </p:spPr>
        <p:txBody>
          <a:bodyPr wrap="square" rtlCol="0">
            <a:spAutoFit/>
          </a:bodyPr>
          <a:lstStyle/>
          <a:p>
            <a:pPr algn="ctr"/>
            <a:r>
              <a:rPr lang="en-US" sz="1200" dirty="0">
                <a:solidFill>
                  <a:schemeClr val="bg1"/>
                </a:solidFill>
              </a:rPr>
              <a:t>Presented by:</a:t>
            </a:r>
          </a:p>
          <a:p>
            <a:pPr algn="ctr"/>
            <a:r>
              <a:rPr lang="en-US" sz="1200" dirty="0">
                <a:solidFill>
                  <a:schemeClr val="bg1"/>
                </a:solidFill>
              </a:rPr>
              <a:t>Mansi Gaur, Amanpreet Singh Bhatia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The Problem</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Why does early heart disease prediction matter?</a:t>
            </a:r>
            <a:endParaRPr lang="en-US" sz="1300" dirty="0"/>
          </a:p>
        </p:txBody>
      </p:sp>
      <p:sp>
        <p:nvSpPr>
          <p:cNvPr id="4" name="Shape 2"/>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1280160"/>
            <a:ext cx="502920" cy="502920"/>
          </a:xfrm>
          <a:prstGeom prst="rect">
            <a:avLst/>
          </a:prstGeom>
        </p:spPr>
      </p:pic>
      <p:sp>
        <p:nvSpPr>
          <p:cNvPr id="6" name="Text 3"/>
          <p:cNvSpPr/>
          <p:nvPr/>
        </p:nvSpPr>
        <p:spPr>
          <a:xfrm>
            <a:off x="1097280" y="1261872"/>
            <a:ext cx="7589520" cy="548640"/>
          </a:xfrm>
          <a:prstGeom prst="rect">
            <a:avLst/>
          </a:prstGeom>
          <a:noFill/>
          <a:ln/>
        </p:spPr>
        <p:txBody>
          <a:bodyPr wrap="square" lIns="0" tIns="0" rIns="0" bIns="0" rtlCol="0" anchor="ctr"/>
          <a:lstStyle/>
          <a:p>
            <a:pPr marL="0" indent="0">
              <a:buNone/>
            </a:pPr>
            <a:r>
              <a:rPr lang="en-US" sz="1400">
                <a:solidFill>
                  <a:srgbClr val="1E293B"/>
                </a:solidFill>
                <a:latin typeface="Calibri"/>
                <a:ea typeface="Calibri"/>
                <a:cs typeface="Calibri"/>
              </a:rPr>
              <a:t>Heart disease is the #1 cause of death globally - yet many cases are preventable with early detection.</a:t>
            </a:r>
            <a:endParaRPr lang="en-US" sz="1400">
              <a:latin typeface="Calibri"/>
              <a:ea typeface="Calibri"/>
              <a:cs typeface="Calibri"/>
            </a:endParaRPr>
          </a:p>
        </p:txBody>
      </p:sp>
      <p:sp>
        <p:nvSpPr>
          <p:cNvPr id="7" name="Shape 4"/>
          <p:cNvSpPr/>
          <p:nvPr/>
        </p:nvSpPr>
        <p:spPr>
          <a:xfrm>
            <a:off x="457200" y="1920240"/>
            <a:ext cx="2651760" cy="26060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8" name="Shape 5"/>
          <p:cNvSpPr/>
          <p:nvPr/>
        </p:nvSpPr>
        <p:spPr>
          <a:xfrm>
            <a:off x="457200" y="1920240"/>
            <a:ext cx="2651760" cy="73152"/>
          </a:xfrm>
          <a:prstGeom prst="rect">
            <a:avLst/>
          </a:prstGeom>
          <a:solidFill>
            <a:srgbClr val="EF4444"/>
          </a:solidFill>
          <a:ln w="12700">
            <a:solidFill>
              <a:srgbClr val="EF4444"/>
            </a:solidFill>
            <a:prstDash val="solid"/>
          </a:ln>
        </p:spPr>
        <p:txBody>
          <a:bodyPr/>
          <a:lstStyle/>
          <a:p>
            <a:endParaRPr lang="en-US"/>
          </a:p>
        </p:txBody>
      </p:sp>
      <p:sp>
        <p:nvSpPr>
          <p:cNvPr id="9" name="Text 6"/>
          <p:cNvSpPr/>
          <p:nvPr/>
        </p:nvSpPr>
        <p:spPr>
          <a:xfrm>
            <a:off x="594360" y="2084832"/>
            <a:ext cx="237744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Late Diagnosis</a:t>
            </a:r>
            <a:endParaRPr lang="en-US" sz="1400" dirty="0"/>
          </a:p>
        </p:txBody>
      </p:sp>
      <p:sp>
        <p:nvSpPr>
          <p:cNvPr id="10" name="Text 7"/>
          <p:cNvSpPr/>
          <p:nvPr/>
        </p:nvSpPr>
        <p:spPr>
          <a:xfrm>
            <a:off x="594360" y="2487168"/>
            <a:ext cx="2377440" cy="1645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Symptoms often appear only after significant cardiac damage has already occurred.</a:t>
            </a:r>
            <a:endParaRPr lang="en-US" sz="1200" dirty="0"/>
          </a:p>
        </p:txBody>
      </p:sp>
      <p:sp>
        <p:nvSpPr>
          <p:cNvPr id="11" name="Shape 8"/>
          <p:cNvSpPr/>
          <p:nvPr/>
        </p:nvSpPr>
        <p:spPr>
          <a:xfrm>
            <a:off x="3291840" y="1920240"/>
            <a:ext cx="2651760" cy="26060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2" name="Shape 9"/>
          <p:cNvSpPr/>
          <p:nvPr/>
        </p:nvSpPr>
        <p:spPr>
          <a:xfrm>
            <a:off x="3291840" y="1920240"/>
            <a:ext cx="2651760" cy="73152"/>
          </a:xfrm>
          <a:prstGeom prst="rect">
            <a:avLst/>
          </a:prstGeom>
          <a:solidFill>
            <a:srgbClr val="F59E0B"/>
          </a:solidFill>
          <a:ln w="12700">
            <a:solidFill>
              <a:srgbClr val="F59E0B"/>
            </a:solidFill>
            <a:prstDash val="solid"/>
          </a:ln>
        </p:spPr>
        <p:txBody>
          <a:bodyPr/>
          <a:lstStyle/>
          <a:p>
            <a:endParaRPr lang="en-US"/>
          </a:p>
        </p:txBody>
      </p:sp>
      <p:sp>
        <p:nvSpPr>
          <p:cNvPr id="13" name="Text 10"/>
          <p:cNvSpPr/>
          <p:nvPr/>
        </p:nvSpPr>
        <p:spPr>
          <a:xfrm>
            <a:off x="3429000" y="2084832"/>
            <a:ext cx="237744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Manual Assessment</a:t>
            </a:r>
            <a:endParaRPr lang="en-US" sz="1400" dirty="0"/>
          </a:p>
        </p:txBody>
      </p:sp>
      <p:sp>
        <p:nvSpPr>
          <p:cNvPr id="14" name="Text 11"/>
          <p:cNvSpPr/>
          <p:nvPr/>
        </p:nvSpPr>
        <p:spPr>
          <a:xfrm>
            <a:off x="3429000" y="2487168"/>
            <a:ext cx="2377440" cy="1645920"/>
          </a:xfrm>
          <a:prstGeom prst="rect">
            <a:avLst/>
          </a:prstGeom>
          <a:noFill/>
          <a:ln/>
        </p:spPr>
        <p:txBody>
          <a:bodyPr wrap="square" lIns="0" tIns="0" rIns="0" bIns="0" rtlCol="0" anchor="ctr"/>
          <a:lstStyle/>
          <a:p>
            <a:pPr marL="0" indent="0">
              <a:buNone/>
            </a:pPr>
            <a:r>
              <a:rPr lang="en-US" sz="1200" dirty="0">
                <a:solidFill>
                  <a:srgbClr val="64748B"/>
                </a:solidFill>
                <a:latin typeface="Calibri"/>
                <a:ea typeface="Calibri"/>
                <a:cs typeface="Calibri"/>
              </a:rPr>
              <a:t>Clinicians rely on dozens of test </a:t>
            </a:r>
            <a:r>
              <a:rPr lang="en-US" sz="1200">
                <a:solidFill>
                  <a:srgbClr val="64748B"/>
                </a:solidFill>
                <a:latin typeface="Calibri"/>
                <a:ea typeface="Calibri"/>
                <a:cs typeface="Calibri"/>
              </a:rPr>
              <a:t>results - easy to miss subtle patterns </a:t>
            </a:r>
            <a:r>
              <a:rPr lang="en-US" sz="1200" dirty="0">
                <a:solidFill>
                  <a:srgbClr val="64748B"/>
                </a:solidFill>
                <a:latin typeface="Calibri"/>
                <a:ea typeface="Calibri"/>
                <a:cs typeface="Calibri"/>
              </a:rPr>
              <a:t>across variables.</a:t>
            </a:r>
            <a:endParaRPr lang="en-US" sz="1200" dirty="0">
              <a:latin typeface="Calibri"/>
              <a:ea typeface="Calibri"/>
              <a:cs typeface="Calibri"/>
            </a:endParaRPr>
          </a:p>
        </p:txBody>
      </p:sp>
      <p:sp>
        <p:nvSpPr>
          <p:cNvPr id="15" name="Shape 12"/>
          <p:cNvSpPr/>
          <p:nvPr/>
        </p:nvSpPr>
        <p:spPr>
          <a:xfrm>
            <a:off x="6126480" y="1920240"/>
            <a:ext cx="2651760" cy="26060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6" name="Shape 13"/>
          <p:cNvSpPr/>
          <p:nvPr/>
        </p:nvSpPr>
        <p:spPr>
          <a:xfrm>
            <a:off x="6126480" y="1920240"/>
            <a:ext cx="2651760" cy="73152"/>
          </a:xfrm>
          <a:prstGeom prst="rect">
            <a:avLst/>
          </a:prstGeom>
          <a:solidFill>
            <a:srgbClr val="0D9488"/>
          </a:solidFill>
          <a:ln w="12700">
            <a:solidFill>
              <a:srgbClr val="0D9488"/>
            </a:solidFill>
            <a:prstDash val="solid"/>
          </a:ln>
        </p:spPr>
        <p:txBody>
          <a:bodyPr/>
          <a:lstStyle/>
          <a:p>
            <a:endParaRPr lang="en-US"/>
          </a:p>
        </p:txBody>
      </p:sp>
      <p:sp>
        <p:nvSpPr>
          <p:cNvPr id="17" name="Text 14"/>
          <p:cNvSpPr/>
          <p:nvPr/>
        </p:nvSpPr>
        <p:spPr>
          <a:xfrm>
            <a:off x="6263640" y="2084832"/>
            <a:ext cx="237744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Inconsistency</a:t>
            </a:r>
            <a:endParaRPr lang="en-US" sz="1400" dirty="0"/>
          </a:p>
        </p:txBody>
      </p:sp>
      <p:sp>
        <p:nvSpPr>
          <p:cNvPr id="18" name="Text 15"/>
          <p:cNvSpPr/>
          <p:nvPr/>
        </p:nvSpPr>
        <p:spPr>
          <a:xfrm>
            <a:off x="6263640" y="2487168"/>
            <a:ext cx="2377440" cy="1645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Risk scoring varies by clinician and institution, leading to unequal patient outcomes.</a:t>
            </a:r>
            <a:endParaRPr lang="en-US" sz="1200" dirty="0"/>
          </a:p>
        </p:txBody>
      </p:sp>
      <p:pic>
        <p:nvPicPr>
          <p:cNvPr id="19" name="Image 1" descr="preencoded.png"/>
          <p:cNvPicPr>
            <a:picLocks noChangeAspect="1"/>
          </p:cNvPicPr>
          <p:nvPr/>
        </p:nvPicPr>
        <p:blipFill>
          <a:blip r:embed="rId4"/>
          <a:stretch>
            <a:fillRect/>
          </a:stretch>
        </p:blipFill>
        <p:spPr>
          <a:xfrm>
            <a:off x="457200" y="4617720"/>
            <a:ext cx="365760" cy="365760"/>
          </a:xfrm>
          <a:prstGeom prst="rect">
            <a:avLst/>
          </a:prstGeom>
        </p:spPr>
      </p:pic>
      <p:sp>
        <p:nvSpPr>
          <p:cNvPr id="20" name="Text 16"/>
          <p:cNvSpPr/>
          <p:nvPr/>
        </p:nvSpPr>
        <p:spPr>
          <a:xfrm>
            <a:off x="960120" y="4617720"/>
            <a:ext cx="7680960" cy="36576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Our answer: train a model on clinical data to flag high-risk patients automatically and explain why.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Dataset &amp; Approach</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r>
              <a:rPr lang="en-US" sz="1300" i="1">
                <a:solidFill>
                  <a:srgbClr val="64748B"/>
                </a:solidFill>
                <a:latin typeface="Calibri"/>
                <a:ea typeface="Calibri"/>
                <a:cs typeface="Calibri"/>
              </a:rPr>
              <a:t>UCI Heart Disease dataset - 920 patients, 15 clinical features</a:t>
            </a:r>
            <a:endParaRPr lang="en-US" sz="1300">
              <a:latin typeface="Calibri"/>
              <a:ea typeface="Calibri"/>
              <a:cs typeface="Calibri"/>
            </a:endParaRPr>
          </a:p>
        </p:txBody>
      </p:sp>
      <p:sp>
        <p:nvSpPr>
          <p:cNvPr id="4" name="Shape 2"/>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1325880"/>
            <a:ext cx="457200" cy="457200"/>
          </a:xfrm>
          <a:prstGeom prst="rect">
            <a:avLst/>
          </a:prstGeom>
        </p:spPr>
      </p:pic>
      <p:sp>
        <p:nvSpPr>
          <p:cNvPr id="6" name="Shape 3"/>
          <p:cNvSpPr/>
          <p:nvPr/>
        </p:nvSpPr>
        <p:spPr>
          <a:xfrm>
            <a:off x="1005840" y="1298448"/>
            <a:ext cx="1828800" cy="347472"/>
          </a:xfrm>
          <a:prstGeom prst="rect">
            <a:avLst/>
          </a:prstGeom>
          <a:solidFill>
            <a:srgbClr val="CCFBF1"/>
          </a:solidFill>
          <a:ln w="12700">
            <a:solidFill>
              <a:srgbClr val="0D9488"/>
            </a:solidFill>
            <a:prstDash val="solid"/>
          </a:ln>
        </p:spPr>
        <p:txBody>
          <a:bodyPr/>
          <a:lstStyle/>
          <a:p>
            <a:endParaRPr lang="en-US"/>
          </a:p>
        </p:txBody>
      </p:sp>
      <p:sp>
        <p:nvSpPr>
          <p:cNvPr id="7" name="Text 4"/>
          <p:cNvSpPr/>
          <p:nvPr/>
        </p:nvSpPr>
        <p:spPr>
          <a:xfrm>
            <a:off x="1005840" y="1298448"/>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Age</a:t>
            </a:r>
            <a:endParaRPr lang="en-US" sz="1100" dirty="0"/>
          </a:p>
        </p:txBody>
      </p:sp>
      <p:sp>
        <p:nvSpPr>
          <p:cNvPr id="8" name="Shape 5"/>
          <p:cNvSpPr/>
          <p:nvPr/>
        </p:nvSpPr>
        <p:spPr>
          <a:xfrm>
            <a:off x="3017520" y="1298448"/>
            <a:ext cx="1828800" cy="347472"/>
          </a:xfrm>
          <a:prstGeom prst="rect">
            <a:avLst/>
          </a:prstGeom>
          <a:solidFill>
            <a:srgbClr val="CCFBF1"/>
          </a:solidFill>
          <a:ln w="12700">
            <a:solidFill>
              <a:srgbClr val="0D9488"/>
            </a:solidFill>
            <a:prstDash val="solid"/>
          </a:ln>
        </p:spPr>
        <p:txBody>
          <a:bodyPr/>
          <a:lstStyle/>
          <a:p>
            <a:endParaRPr lang="en-US"/>
          </a:p>
        </p:txBody>
      </p:sp>
      <p:sp>
        <p:nvSpPr>
          <p:cNvPr id="9" name="Text 6"/>
          <p:cNvSpPr/>
          <p:nvPr/>
        </p:nvSpPr>
        <p:spPr>
          <a:xfrm>
            <a:off x="3017520" y="1298448"/>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Sex</a:t>
            </a:r>
            <a:endParaRPr lang="en-US" sz="1100" dirty="0"/>
          </a:p>
        </p:txBody>
      </p:sp>
      <p:sp>
        <p:nvSpPr>
          <p:cNvPr id="10" name="Shape 7"/>
          <p:cNvSpPr/>
          <p:nvPr/>
        </p:nvSpPr>
        <p:spPr>
          <a:xfrm>
            <a:off x="5029200" y="1298448"/>
            <a:ext cx="1828800" cy="347472"/>
          </a:xfrm>
          <a:prstGeom prst="rect">
            <a:avLst/>
          </a:prstGeom>
          <a:solidFill>
            <a:srgbClr val="CCFBF1"/>
          </a:solidFill>
          <a:ln w="12700">
            <a:solidFill>
              <a:srgbClr val="0D9488"/>
            </a:solidFill>
            <a:prstDash val="solid"/>
          </a:ln>
        </p:spPr>
        <p:txBody>
          <a:bodyPr/>
          <a:lstStyle/>
          <a:p>
            <a:endParaRPr lang="en-US"/>
          </a:p>
        </p:txBody>
      </p:sp>
      <p:sp>
        <p:nvSpPr>
          <p:cNvPr id="11" name="Text 8"/>
          <p:cNvSpPr/>
          <p:nvPr/>
        </p:nvSpPr>
        <p:spPr>
          <a:xfrm>
            <a:off x="5029200" y="1298448"/>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Chest Pain Type</a:t>
            </a:r>
            <a:endParaRPr lang="en-US" sz="1100" dirty="0"/>
          </a:p>
        </p:txBody>
      </p:sp>
      <p:sp>
        <p:nvSpPr>
          <p:cNvPr id="12" name="Shape 9"/>
          <p:cNvSpPr/>
          <p:nvPr/>
        </p:nvSpPr>
        <p:spPr>
          <a:xfrm>
            <a:off x="7040880" y="1298448"/>
            <a:ext cx="1828800" cy="347472"/>
          </a:xfrm>
          <a:prstGeom prst="rect">
            <a:avLst/>
          </a:prstGeom>
          <a:solidFill>
            <a:srgbClr val="CCFBF1"/>
          </a:solidFill>
          <a:ln w="12700">
            <a:solidFill>
              <a:srgbClr val="0D9488"/>
            </a:solidFill>
            <a:prstDash val="solid"/>
          </a:ln>
        </p:spPr>
        <p:txBody>
          <a:bodyPr/>
          <a:lstStyle/>
          <a:p>
            <a:endParaRPr lang="en-US"/>
          </a:p>
        </p:txBody>
      </p:sp>
      <p:sp>
        <p:nvSpPr>
          <p:cNvPr id="13" name="Text 10"/>
          <p:cNvSpPr/>
          <p:nvPr/>
        </p:nvSpPr>
        <p:spPr>
          <a:xfrm>
            <a:off x="7040880" y="1298448"/>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Resting BP</a:t>
            </a:r>
            <a:endParaRPr lang="en-US" sz="1100" dirty="0"/>
          </a:p>
        </p:txBody>
      </p:sp>
      <p:sp>
        <p:nvSpPr>
          <p:cNvPr id="14" name="Shape 11"/>
          <p:cNvSpPr/>
          <p:nvPr/>
        </p:nvSpPr>
        <p:spPr>
          <a:xfrm>
            <a:off x="1005840" y="1773936"/>
            <a:ext cx="1828800" cy="347472"/>
          </a:xfrm>
          <a:prstGeom prst="rect">
            <a:avLst/>
          </a:prstGeom>
          <a:solidFill>
            <a:srgbClr val="CCFBF1"/>
          </a:solidFill>
          <a:ln w="12700">
            <a:solidFill>
              <a:srgbClr val="0D9488"/>
            </a:solidFill>
            <a:prstDash val="solid"/>
          </a:ln>
        </p:spPr>
        <p:txBody>
          <a:bodyPr/>
          <a:lstStyle/>
          <a:p>
            <a:endParaRPr lang="en-US"/>
          </a:p>
        </p:txBody>
      </p:sp>
      <p:sp>
        <p:nvSpPr>
          <p:cNvPr id="15" name="Text 12"/>
          <p:cNvSpPr/>
          <p:nvPr/>
        </p:nvSpPr>
        <p:spPr>
          <a:xfrm>
            <a:off x="1005840" y="1773936"/>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Cholesterol</a:t>
            </a:r>
            <a:endParaRPr lang="en-US" sz="1100" dirty="0"/>
          </a:p>
        </p:txBody>
      </p:sp>
      <p:sp>
        <p:nvSpPr>
          <p:cNvPr id="16" name="Shape 13"/>
          <p:cNvSpPr/>
          <p:nvPr/>
        </p:nvSpPr>
        <p:spPr>
          <a:xfrm>
            <a:off x="3017520" y="1773936"/>
            <a:ext cx="1828800" cy="347472"/>
          </a:xfrm>
          <a:prstGeom prst="rect">
            <a:avLst/>
          </a:prstGeom>
          <a:solidFill>
            <a:srgbClr val="CCFBF1"/>
          </a:solidFill>
          <a:ln w="12700">
            <a:solidFill>
              <a:srgbClr val="0D9488"/>
            </a:solidFill>
            <a:prstDash val="solid"/>
          </a:ln>
        </p:spPr>
        <p:txBody>
          <a:bodyPr/>
          <a:lstStyle/>
          <a:p>
            <a:endParaRPr lang="en-US"/>
          </a:p>
        </p:txBody>
      </p:sp>
      <p:sp>
        <p:nvSpPr>
          <p:cNvPr id="17" name="Text 14"/>
          <p:cNvSpPr/>
          <p:nvPr/>
        </p:nvSpPr>
        <p:spPr>
          <a:xfrm>
            <a:off x="3017520" y="1773936"/>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Fasting Blood Sugar</a:t>
            </a:r>
            <a:endParaRPr lang="en-US" sz="1100" dirty="0"/>
          </a:p>
        </p:txBody>
      </p:sp>
      <p:sp>
        <p:nvSpPr>
          <p:cNvPr id="18" name="Shape 15"/>
          <p:cNvSpPr/>
          <p:nvPr/>
        </p:nvSpPr>
        <p:spPr>
          <a:xfrm>
            <a:off x="5029200" y="1773936"/>
            <a:ext cx="1828800" cy="347472"/>
          </a:xfrm>
          <a:prstGeom prst="rect">
            <a:avLst/>
          </a:prstGeom>
          <a:solidFill>
            <a:srgbClr val="CCFBF1"/>
          </a:solidFill>
          <a:ln w="12700">
            <a:solidFill>
              <a:srgbClr val="0D9488"/>
            </a:solidFill>
            <a:prstDash val="solid"/>
          </a:ln>
        </p:spPr>
        <p:txBody>
          <a:bodyPr/>
          <a:lstStyle/>
          <a:p>
            <a:endParaRPr lang="en-US"/>
          </a:p>
        </p:txBody>
      </p:sp>
      <p:sp>
        <p:nvSpPr>
          <p:cNvPr id="19" name="Text 16"/>
          <p:cNvSpPr/>
          <p:nvPr/>
        </p:nvSpPr>
        <p:spPr>
          <a:xfrm>
            <a:off x="5029200" y="1773936"/>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Resting ECG</a:t>
            </a:r>
            <a:endParaRPr lang="en-US" sz="1100" dirty="0"/>
          </a:p>
        </p:txBody>
      </p:sp>
      <p:sp>
        <p:nvSpPr>
          <p:cNvPr id="20" name="Shape 17"/>
          <p:cNvSpPr/>
          <p:nvPr/>
        </p:nvSpPr>
        <p:spPr>
          <a:xfrm>
            <a:off x="7040880" y="1773936"/>
            <a:ext cx="1828800" cy="347472"/>
          </a:xfrm>
          <a:prstGeom prst="rect">
            <a:avLst/>
          </a:prstGeom>
          <a:solidFill>
            <a:srgbClr val="CCFBF1"/>
          </a:solidFill>
          <a:ln w="12700">
            <a:solidFill>
              <a:srgbClr val="0D9488"/>
            </a:solidFill>
            <a:prstDash val="solid"/>
          </a:ln>
        </p:spPr>
        <p:txBody>
          <a:bodyPr/>
          <a:lstStyle/>
          <a:p>
            <a:endParaRPr lang="en-US"/>
          </a:p>
        </p:txBody>
      </p:sp>
      <p:sp>
        <p:nvSpPr>
          <p:cNvPr id="21" name="Text 18"/>
          <p:cNvSpPr/>
          <p:nvPr/>
        </p:nvSpPr>
        <p:spPr>
          <a:xfrm>
            <a:off x="7040880" y="1773936"/>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Max Heart Rate</a:t>
            </a:r>
            <a:endParaRPr lang="en-US" sz="1100" dirty="0"/>
          </a:p>
        </p:txBody>
      </p:sp>
      <p:sp>
        <p:nvSpPr>
          <p:cNvPr id="22" name="Shape 19"/>
          <p:cNvSpPr/>
          <p:nvPr/>
        </p:nvSpPr>
        <p:spPr>
          <a:xfrm>
            <a:off x="1005840" y="2249424"/>
            <a:ext cx="1828800" cy="347472"/>
          </a:xfrm>
          <a:prstGeom prst="rect">
            <a:avLst/>
          </a:prstGeom>
          <a:solidFill>
            <a:srgbClr val="CCFBF1"/>
          </a:solidFill>
          <a:ln w="12700">
            <a:solidFill>
              <a:srgbClr val="0D9488"/>
            </a:solidFill>
            <a:prstDash val="solid"/>
          </a:ln>
        </p:spPr>
        <p:txBody>
          <a:bodyPr/>
          <a:lstStyle/>
          <a:p>
            <a:endParaRPr lang="en-US"/>
          </a:p>
        </p:txBody>
      </p:sp>
      <p:sp>
        <p:nvSpPr>
          <p:cNvPr id="23" name="Text 20"/>
          <p:cNvSpPr/>
          <p:nvPr/>
        </p:nvSpPr>
        <p:spPr>
          <a:xfrm>
            <a:off x="1005840" y="2249424"/>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Exercise Angina</a:t>
            </a:r>
            <a:endParaRPr lang="en-US" sz="1100" dirty="0"/>
          </a:p>
        </p:txBody>
      </p:sp>
      <p:sp>
        <p:nvSpPr>
          <p:cNvPr id="24" name="Shape 21"/>
          <p:cNvSpPr/>
          <p:nvPr/>
        </p:nvSpPr>
        <p:spPr>
          <a:xfrm>
            <a:off x="3017520" y="2249424"/>
            <a:ext cx="1828800" cy="347472"/>
          </a:xfrm>
          <a:prstGeom prst="rect">
            <a:avLst/>
          </a:prstGeom>
          <a:solidFill>
            <a:srgbClr val="CCFBF1"/>
          </a:solidFill>
          <a:ln w="12700">
            <a:solidFill>
              <a:srgbClr val="0D9488"/>
            </a:solidFill>
            <a:prstDash val="solid"/>
          </a:ln>
        </p:spPr>
        <p:txBody>
          <a:bodyPr/>
          <a:lstStyle/>
          <a:p>
            <a:endParaRPr lang="en-US"/>
          </a:p>
        </p:txBody>
      </p:sp>
      <p:sp>
        <p:nvSpPr>
          <p:cNvPr id="25" name="Text 22"/>
          <p:cNvSpPr/>
          <p:nvPr/>
        </p:nvSpPr>
        <p:spPr>
          <a:xfrm>
            <a:off x="3017520" y="2249424"/>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ST Depression</a:t>
            </a:r>
            <a:endParaRPr lang="en-US" sz="1100" dirty="0"/>
          </a:p>
        </p:txBody>
      </p:sp>
      <p:sp>
        <p:nvSpPr>
          <p:cNvPr id="26" name="Shape 23"/>
          <p:cNvSpPr/>
          <p:nvPr/>
        </p:nvSpPr>
        <p:spPr>
          <a:xfrm>
            <a:off x="5029200" y="2249424"/>
            <a:ext cx="1828800" cy="347472"/>
          </a:xfrm>
          <a:prstGeom prst="rect">
            <a:avLst/>
          </a:prstGeom>
          <a:solidFill>
            <a:srgbClr val="CCFBF1"/>
          </a:solidFill>
          <a:ln w="12700">
            <a:solidFill>
              <a:srgbClr val="0D9488"/>
            </a:solidFill>
            <a:prstDash val="solid"/>
          </a:ln>
        </p:spPr>
        <p:txBody>
          <a:bodyPr/>
          <a:lstStyle/>
          <a:p>
            <a:endParaRPr lang="en-US"/>
          </a:p>
        </p:txBody>
      </p:sp>
      <p:sp>
        <p:nvSpPr>
          <p:cNvPr id="27" name="Text 24"/>
          <p:cNvSpPr/>
          <p:nvPr/>
        </p:nvSpPr>
        <p:spPr>
          <a:xfrm>
            <a:off x="5029200" y="2249424"/>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ST Slope</a:t>
            </a:r>
            <a:endParaRPr lang="en-US" sz="1100" dirty="0"/>
          </a:p>
        </p:txBody>
      </p:sp>
      <p:sp>
        <p:nvSpPr>
          <p:cNvPr id="28" name="Shape 25"/>
          <p:cNvSpPr/>
          <p:nvPr/>
        </p:nvSpPr>
        <p:spPr>
          <a:xfrm>
            <a:off x="7040880" y="2249424"/>
            <a:ext cx="1828800" cy="347472"/>
          </a:xfrm>
          <a:prstGeom prst="rect">
            <a:avLst/>
          </a:prstGeom>
          <a:solidFill>
            <a:srgbClr val="CCFBF1"/>
          </a:solidFill>
          <a:ln w="12700">
            <a:solidFill>
              <a:srgbClr val="0D9488"/>
            </a:solidFill>
            <a:prstDash val="solid"/>
          </a:ln>
        </p:spPr>
        <p:txBody>
          <a:bodyPr/>
          <a:lstStyle/>
          <a:p>
            <a:endParaRPr lang="en-US"/>
          </a:p>
        </p:txBody>
      </p:sp>
      <p:sp>
        <p:nvSpPr>
          <p:cNvPr id="29" name="Text 26"/>
          <p:cNvSpPr/>
          <p:nvPr/>
        </p:nvSpPr>
        <p:spPr>
          <a:xfrm>
            <a:off x="7040880" y="2249424"/>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 Vessels</a:t>
            </a:r>
            <a:endParaRPr lang="en-US" sz="1100" dirty="0"/>
          </a:p>
        </p:txBody>
      </p:sp>
      <p:sp>
        <p:nvSpPr>
          <p:cNvPr id="30" name="Shape 27"/>
          <p:cNvSpPr/>
          <p:nvPr/>
        </p:nvSpPr>
        <p:spPr>
          <a:xfrm>
            <a:off x="1005840" y="2724912"/>
            <a:ext cx="1828800" cy="347472"/>
          </a:xfrm>
          <a:prstGeom prst="rect">
            <a:avLst/>
          </a:prstGeom>
          <a:solidFill>
            <a:srgbClr val="CCFBF1"/>
          </a:solidFill>
          <a:ln w="12700">
            <a:solidFill>
              <a:srgbClr val="0D9488"/>
            </a:solidFill>
            <a:prstDash val="solid"/>
          </a:ln>
        </p:spPr>
        <p:txBody>
          <a:bodyPr/>
          <a:lstStyle/>
          <a:p>
            <a:endParaRPr lang="en-US"/>
          </a:p>
        </p:txBody>
      </p:sp>
      <p:sp>
        <p:nvSpPr>
          <p:cNvPr id="31" name="Text 28"/>
          <p:cNvSpPr/>
          <p:nvPr/>
        </p:nvSpPr>
        <p:spPr>
          <a:xfrm>
            <a:off x="1005840" y="2724912"/>
            <a:ext cx="1828800" cy="347472"/>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Thalassemia</a:t>
            </a:r>
            <a:endParaRPr lang="en-US" sz="1100" dirty="0"/>
          </a:p>
        </p:txBody>
      </p:sp>
      <p:sp>
        <p:nvSpPr>
          <p:cNvPr id="32" name="Text 29"/>
          <p:cNvSpPr/>
          <p:nvPr/>
        </p:nvSpPr>
        <p:spPr>
          <a:xfrm>
            <a:off x="457200" y="3219692"/>
            <a:ext cx="8229600" cy="347472"/>
          </a:xfrm>
          <a:prstGeom prst="rect">
            <a:avLst/>
          </a:prstGeom>
          <a:solidFill>
            <a:srgbClr val="1B2A4A"/>
          </a:solidFill>
          <a:ln/>
        </p:spPr>
        <p:txBody>
          <a:bodyPr wrap="square" lIns="0" tIns="0" rIns="0" bIns="0" rtlCol="0" anchor="ctr"/>
          <a:lstStyle/>
          <a:p>
            <a:pPr marL="0" indent="0" algn="ctr">
              <a:buNone/>
            </a:pPr>
            <a:r>
              <a:rPr lang="en-US" sz="1300" b="1">
                <a:solidFill>
                  <a:srgbClr val="FFFFFF"/>
                </a:solidFill>
                <a:latin typeface="Calibri"/>
                <a:ea typeface="Calibri"/>
                <a:cs typeface="Calibri"/>
              </a:rPr>
              <a:t>Target: Binary - 0 = No Disease  |  1 = Disease Present</a:t>
            </a:r>
            <a:endParaRPr lang="en-US" sz="1300">
              <a:latin typeface="Calibri"/>
              <a:ea typeface="Calibri"/>
              <a:cs typeface="Calibri"/>
            </a:endParaRPr>
          </a:p>
        </p:txBody>
      </p:sp>
      <p:sp>
        <p:nvSpPr>
          <p:cNvPr id="33" name="Text 30"/>
          <p:cNvSpPr/>
          <p:nvPr/>
        </p:nvSpPr>
        <p:spPr>
          <a:xfrm>
            <a:off x="457200" y="3584244"/>
            <a:ext cx="182880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Pipeline</a:t>
            </a:r>
            <a:endParaRPr lang="en-US" sz="1400" dirty="0"/>
          </a:p>
        </p:txBody>
      </p:sp>
      <p:sp>
        <p:nvSpPr>
          <p:cNvPr id="34" name="Shape 31"/>
          <p:cNvSpPr/>
          <p:nvPr/>
        </p:nvSpPr>
        <p:spPr>
          <a:xfrm>
            <a:off x="554773" y="3956973"/>
            <a:ext cx="815823" cy="502920"/>
          </a:xfrm>
          <a:prstGeom prst="rect">
            <a:avLst/>
          </a:prstGeom>
          <a:solidFill>
            <a:srgbClr val="1B2A4A"/>
          </a:solidFill>
          <a:ln w="12700">
            <a:solidFill>
              <a:srgbClr val="1B2A4A"/>
            </a:solidFill>
            <a:prstDash val="solid"/>
          </a:ln>
        </p:spPr>
        <p:txBody>
          <a:bodyPr/>
          <a:lstStyle/>
          <a:p>
            <a:endParaRPr lang="en-US" b="1"/>
          </a:p>
        </p:txBody>
      </p:sp>
      <p:sp>
        <p:nvSpPr>
          <p:cNvPr id="35" name="Text 32"/>
          <p:cNvSpPr/>
          <p:nvPr/>
        </p:nvSpPr>
        <p:spPr>
          <a:xfrm>
            <a:off x="554773" y="3961908"/>
            <a:ext cx="815823" cy="502920"/>
          </a:xfrm>
          <a:prstGeom prst="rect">
            <a:avLst/>
          </a:prstGeom>
          <a:noFill/>
          <a:ln/>
        </p:spPr>
        <p:txBody>
          <a:bodyPr wrap="square" lIns="0" tIns="0" rIns="0" bIns="0" rtlCol="0" anchor="ctr"/>
          <a:lstStyle/>
          <a:p>
            <a:pPr algn="ctr"/>
            <a:r>
              <a:rPr lang="en-US" sz="1000" b="1" dirty="0">
                <a:solidFill>
                  <a:srgbClr val="FFFFFF"/>
                </a:solidFill>
                <a:latin typeface="Calibri"/>
                <a:ea typeface="Calibri"/>
                <a:cs typeface="Calibri"/>
              </a:rPr>
              <a:t>Feature Encoding</a:t>
            </a:r>
            <a:endParaRPr lang="en-US" sz="1000" b="1" dirty="0">
              <a:latin typeface="Calibri"/>
              <a:ea typeface="Calibri"/>
              <a:cs typeface="Calibri"/>
            </a:endParaRPr>
          </a:p>
        </p:txBody>
      </p:sp>
      <p:sp>
        <p:nvSpPr>
          <p:cNvPr id="36" name="Text 33"/>
          <p:cNvSpPr/>
          <p:nvPr/>
        </p:nvSpPr>
        <p:spPr>
          <a:xfrm>
            <a:off x="1370597" y="3908185"/>
            <a:ext cx="173736" cy="502920"/>
          </a:xfrm>
          <a:prstGeom prst="rect">
            <a:avLst/>
          </a:prstGeom>
          <a:noFill/>
          <a:ln/>
        </p:spPr>
        <p:txBody>
          <a:bodyPr wrap="square" lIns="0" tIns="0" rIns="0" bIns="0" rtlCol="0" anchor="ctr"/>
          <a:lstStyle/>
          <a:p>
            <a:pPr algn="ctr"/>
            <a:r>
              <a:rPr lang="en-US" sz="1400" dirty="0">
                <a:solidFill>
                  <a:srgbClr val="64748B"/>
                </a:solidFill>
                <a:latin typeface="Calibri"/>
                <a:ea typeface="Calibri"/>
                <a:cs typeface="Calibri"/>
              </a:rPr>
              <a:t>→</a:t>
            </a:r>
            <a:endParaRPr lang="en-US" sz="1400" dirty="0">
              <a:solidFill>
                <a:srgbClr val="000000"/>
              </a:solidFill>
              <a:ea typeface="Calibri"/>
              <a:cs typeface="Calibri"/>
            </a:endParaRPr>
          </a:p>
        </p:txBody>
      </p:sp>
      <p:sp>
        <p:nvSpPr>
          <p:cNvPr id="37" name="Shape 34"/>
          <p:cNvSpPr/>
          <p:nvPr/>
        </p:nvSpPr>
        <p:spPr>
          <a:xfrm>
            <a:off x="1570962" y="3958710"/>
            <a:ext cx="1031878" cy="502920"/>
          </a:xfrm>
          <a:prstGeom prst="rect">
            <a:avLst/>
          </a:prstGeom>
          <a:solidFill>
            <a:srgbClr val="1B2A4A"/>
          </a:solidFill>
          <a:ln w="12700">
            <a:solidFill>
              <a:srgbClr val="1B2A4A"/>
            </a:solidFill>
            <a:prstDash val="solid"/>
          </a:ln>
        </p:spPr>
        <p:txBody>
          <a:bodyPr/>
          <a:lstStyle/>
          <a:p>
            <a:endParaRPr lang="en-US"/>
          </a:p>
        </p:txBody>
      </p:sp>
      <p:sp>
        <p:nvSpPr>
          <p:cNvPr id="38" name="Text 35"/>
          <p:cNvSpPr/>
          <p:nvPr/>
        </p:nvSpPr>
        <p:spPr>
          <a:xfrm>
            <a:off x="1575192" y="3956973"/>
            <a:ext cx="1031879" cy="502920"/>
          </a:xfrm>
          <a:prstGeom prst="rect">
            <a:avLst/>
          </a:prstGeom>
          <a:noFill/>
          <a:ln/>
        </p:spPr>
        <p:txBody>
          <a:bodyPr wrap="square" lIns="0" tIns="0" rIns="0" bIns="0" rtlCol="0" anchor="ctr"/>
          <a:lstStyle/>
          <a:p>
            <a:pPr algn="ctr"/>
            <a:r>
              <a:rPr lang="en-US" sz="1000" b="1" dirty="0">
                <a:solidFill>
                  <a:srgbClr val="FFFFFF"/>
                </a:solidFill>
                <a:latin typeface="Calibri"/>
                <a:ea typeface="Calibri"/>
                <a:cs typeface="Calibri"/>
              </a:rPr>
              <a:t>Train/Val/Test </a:t>
            </a:r>
            <a:endParaRPr lang="en-US" sz="1000" b="1" dirty="0">
              <a:solidFill>
                <a:srgbClr val="000000"/>
              </a:solidFill>
              <a:latin typeface="Calibri"/>
              <a:ea typeface="Calibri"/>
              <a:cs typeface="Calibri"/>
            </a:endParaRPr>
          </a:p>
          <a:p>
            <a:pPr marL="0" indent="0" algn="ctr">
              <a:buNone/>
            </a:pPr>
            <a:r>
              <a:rPr lang="en-US" sz="1000" b="1" dirty="0">
                <a:solidFill>
                  <a:srgbClr val="FFFFFF"/>
                </a:solidFill>
                <a:latin typeface="Calibri"/>
                <a:ea typeface="Calibri"/>
                <a:cs typeface="Calibri"/>
              </a:rPr>
              <a:t>split</a:t>
            </a:r>
            <a:endParaRPr lang="en-US" sz="1000" b="1" dirty="0">
              <a:ea typeface="Calibri"/>
              <a:cs typeface="Calibri"/>
            </a:endParaRPr>
          </a:p>
        </p:txBody>
      </p:sp>
      <p:sp>
        <p:nvSpPr>
          <p:cNvPr id="39" name="Text 36"/>
          <p:cNvSpPr/>
          <p:nvPr/>
        </p:nvSpPr>
        <p:spPr>
          <a:xfrm>
            <a:off x="2576210" y="3908186"/>
            <a:ext cx="173736"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40" name="Shape 37"/>
          <p:cNvSpPr/>
          <p:nvPr/>
        </p:nvSpPr>
        <p:spPr>
          <a:xfrm>
            <a:off x="2749946" y="3951953"/>
            <a:ext cx="1004001" cy="502920"/>
          </a:xfrm>
          <a:prstGeom prst="rect">
            <a:avLst/>
          </a:prstGeom>
          <a:solidFill>
            <a:srgbClr val="1B2A4A"/>
          </a:solidFill>
          <a:ln w="12700">
            <a:solidFill>
              <a:srgbClr val="1B2A4A"/>
            </a:solidFill>
            <a:prstDash val="solid"/>
          </a:ln>
        </p:spPr>
        <p:txBody>
          <a:bodyPr/>
          <a:lstStyle/>
          <a:p>
            <a:endParaRPr lang="en-US"/>
          </a:p>
        </p:txBody>
      </p:sp>
      <p:sp>
        <p:nvSpPr>
          <p:cNvPr id="41" name="Text 38"/>
          <p:cNvSpPr/>
          <p:nvPr/>
        </p:nvSpPr>
        <p:spPr>
          <a:xfrm>
            <a:off x="2749946" y="3951949"/>
            <a:ext cx="1004001"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KNN Imputation</a:t>
            </a:r>
            <a:endParaRPr lang="en-US" sz="1000" b="1" dirty="0"/>
          </a:p>
        </p:txBody>
      </p:sp>
      <p:sp>
        <p:nvSpPr>
          <p:cNvPr id="42" name="Text 39"/>
          <p:cNvSpPr/>
          <p:nvPr/>
        </p:nvSpPr>
        <p:spPr>
          <a:xfrm>
            <a:off x="3753946" y="3908186"/>
            <a:ext cx="173736" cy="502920"/>
          </a:xfrm>
          <a:prstGeom prst="rect">
            <a:avLst/>
          </a:prstGeom>
          <a:noFill/>
          <a:ln/>
        </p:spPr>
        <p:txBody>
          <a:bodyPr wrap="square" lIns="0" tIns="0" rIns="0" bIns="0" rtlCol="0" anchor="ctr"/>
          <a:lstStyle/>
          <a:p>
            <a:pPr algn="ctr"/>
            <a:r>
              <a:rPr lang="en-US" sz="1400" dirty="0">
                <a:solidFill>
                  <a:srgbClr val="64748B"/>
                </a:solidFill>
                <a:latin typeface="Calibri"/>
                <a:ea typeface="Calibri"/>
                <a:cs typeface="Calibri"/>
              </a:rPr>
              <a:t>→</a:t>
            </a:r>
            <a:endParaRPr lang="en-US" sz="1400" dirty="0">
              <a:latin typeface="Calibri"/>
              <a:ea typeface="Calibri"/>
              <a:cs typeface="Calibri"/>
            </a:endParaRPr>
          </a:p>
        </p:txBody>
      </p:sp>
      <p:sp>
        <p:nvSpPr>
          <p:cNvPr id="43" name="Shape 40"/>
          <p:cNvSpPr/>
          <p:nvPr/>
        </p:nvSpPr>
        <p:spPr>
          <a:xfrm>
            <a:off x="4987048" y="3950820"/>
            <a:ext cx="1038848" cy="502920"/>
          </a:xfrm>
          <a:prstGeom prst="rect">
            <a:avLst/>
          </a:prstGeom>
          <a:solidFill>
            <a:srgbClr val="1B2A4A"/>
          </a:solidFill>
          <a:ln w="12700">
            <a:solidFill>
              <a:srgbClr val="1B2A4A"/>
            </a:solidFill>
            <a:prstDash val="solid"/>
          </a:ln>
        </p:spPr>
        <p:txBody>
          <a:bodyPr/>
          <a:lstStyle/>
          <a:p>
            <a:endParaRPr lang="en-US"/>
          </a:p>
        </p:txBody>
      </p:sp>
      <p:sp>
        <p:nvSpPr>
          <p:cNvPr id="44" name="Text 41"/>
          <p:cNvSpPr/>
          <p:nvPr/>
        </p:nvSpPr>
        <p:spPr>
          <a:xfrm>
            <a:off x="4984438" y="3945340"/>
            <a:ext cx="1041458" cy="502920"/>
          </a:xfrm>
          <a:prstGeom prst="rect">
            <a:avLst/>
          </a:prstGeom>
          <a:noFill/>
          <a:ln/>
        </p:spPr>
        <p:txBody>
          <a:bodyPr wrap="square" lIns="0" tIns="0" rIns="0" bIns="0" rtlCol="0" anchor="ctr"/>
          <a:lstStyle/>
          <a:p>
            <a:pPr algn="ctr"/>
            <a:r>
              <a:rPr lang="en-US" sz="1000" b="1" dirty="0" err="1">
                <a:solidFill>
                  <a:srgbClr val="FFFFFF"/>
                </a:solidFill>
                <a:latin typeface="Calibri"/>
                <a:ea typeface="Calibri"/>
                <a:cs typeface="Calibri"/>
              </a:rPr>
              <a:t>StandardScaler</a:t>
            </a:r>
            <a:endParaRPr lang="en-US" sz="1000" b="1" dirty="0" err="1"/>
          </a:p>
        </p:txBody>
      </p:sp>
      <p:sp>
        <p:nvSpPr>
          <p:cNvPr id="45" name="Text 42"/>
          <p:cNvSpPr/>
          <p:nvPr/>
        </p:nvSpPr>
        <p:spPr>
          <a:xfrm>
            <a:off x="6025896" y="3929095"/>
            <a:ext cx="173736"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46" name="Shape 43"/>
          <p:cNvSpPr/>
          <p:nvPr/>
        </p:nvSpPr>
        <p:spPr>
          <a:xfrm>
            <a:off x="6199632" y="3950004"/>
            <a:ext cx="1261872" cy="502920"/>
          </a:xfrm>
          <a:prstGeom prst="rect">
            <a:avLst/>
          </a:prstGeom>
          <a:solidFill>
            <a:srgbClr val="1B2A4A"/>
          </a:solidFill>
          <a:ln w="12700">
            <a:solidFill>
              <a:srgbClr val="1B2A4A"/>
            </a:solidFill>
            <a:prstDash val="solid"/>
          </a:ln>
        </p:spPr>
        <p:txBody>
          <a:bodyPr/>
          <a:lstStyle/>
          <a:p>
            <a:endParaRPr lang="en-US"/>
          </a:p>
        </p:txBody>
      </p:sp>
      <p:sp>
        <p:nvSpPr>
          <p:cNvPr id="47" name="Text 44"/>
          <p:cNvSpPr/>
          <p:nvPr/>
        </p:nvSpPr>
        <p:spPr>
          <a:xfrm>
            <a:off x="6199632" y="3950006"/>
            <a:ext cx="1261872"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 Training</a:t>
            </a:r>
            <a:endParaRPr lang="en-US" sz="1000" b="1" dirty="0"/>
          </a:p>
        </p:txBody>
      </p:sp>
      <p:sp>
        <p:nvSpPr>
          <p:cNvPr id="48" name="Text 45"/>
          <p:cNvSpPr/>
          <p:nvPr/>
        </p:nvSpPr>
        <p:spPr>
          <a:xfrm>
            <a:off x="7461504" y="3950004"/>
            <a:ext cx="173736"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49" name="Shape 46"/>
          <p:cNvSpPr/>
          <p:nvPr/>
        </p:nvSpPr>
        <p:spPr>
          <a:xfrm>
            <a:off x="7635240" y="3950004"/>
            <a:ext cx="1261872" cy="502920"/>
          </a:xfrm>
          <a:prstGeom prst="rect">
            <a:avLst/>
          </a:prstGeom>
          <a:solidFill>
            <a:srgbClr val="0D9488"/>
          </a:solidFill>
          <a:ln w="12700">
            <a:solidFill>
              <a:srgbClr val="1B2A4A"/>
            </a:solidFill>
            <a:prstDash val="solid"/>
          </a:ln>
        </p:spPr>
        <p:txBody>
          <a:bodyPr/>
          <a:lstStyle/>
          <a:p>
            <a:endParaRPr lang="en-US"/>
          </a:p>
        </p:txBody>
      </p:sp>
      <p:sp>
        <p:nvSpPr>
          <p:cNvPr id="50" name="Text 47"/>
          <p:cNvSpPr/>
          <p:nvPr/>
        </p:nvSpPr>
        <p:spPr>
          <a:xfrm>
            <a:off x="7635240" y="3950004"/>
            <a:ext cx="1261872"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SHAP Explainability</a:t>
            </a:r>
            <a:endParaRPr lang="en-US" sz="1000" b="1" dirty="0"/>
          </a:p>
        </p:txBody>
      </p:sp>
      <p:sp>
        <p:nvSpPr>
          <p:cNvPr id="51" name="Text 48"/>
          <p:cNvSpPr/>
          <p:nvPr/>
        </p:nvSpPr>
        <p:spPr>
          <a:xfrm>
            <a:off x="457200" y="4500152"/>
            <a:ext cx="822960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Key challenge: ca (66% missing) &amp; thal (53% missing) handled with missing indicators + KNN imputation</a:t>
            </a:r>
            <a:endParaRPr lang="en-US" sz="1100" dirty="0"/>
          </a:p>
        </p:txBody>
      </p:sp>
      <p:sp>
        <p:nvSpPr>
          <p:cNvPr id="52" name="Shape 40">
            <a:extLst>
              <a:ext uri="{FF2B5EF4-FFF2-40B4-BE49-F238E27FC236}">
                <a16:creationId xmlns:a16="http://schemas.microsoft.com/office/drawing/2014/main" id="{084BF511-EF76-10B9-CB90-99EC2D42A195}"/>
              </a:ext>
            </a:extLst>
          </p:cNvPr>
          <p:cNvSpPr/>
          <p:nvPr/>
        </p:nvSpPr>
        <p:spPr>
          <a:xfrm>
            <a:off x="3934262" y="3948135"/>
            <a:ext cx="899458" cy="504789"/>
          </a:xfrm>
          <a:prstGeom prst="rect">
            <a:avLst/>
          </a:prstGeom>
          <a:solidFill>
            <a:srgbClr val="1B2A4A"/>
          </a:solidFill>
          <a:ln w="12700">
            <a:solidFill>
              <a:srgbClr val="1B2A4A"/>
            </a:solidFill>
            <a:prstDash val="solid"/>
          </a:ln>
        </p:spPr>
        <p:txBody>
          <a:bodyPr lIns="91440" tIns="45720" rIns="91440" bIns="45720" anchor="t"/>
          <a:lstStyle/>
          <a:p>
            <a:pPr algn="ctr"/>
            <a:endParaRPr lang="en-US" sz="1000" b="1" dirty="0">
              <a:solidFill>
                <a:srgbClr val="FFFFFF"/>
              </a:solidFill>
              <a:latin typeface="Calibri"/>
              <a:ea typeface="Calibri"/>
              <a:cs typeface="Calibri"/>
            </a:endParaRPr>
          </a:p>
          <a:p>
            <a:pPr algn="ctr"/>
            <a:r>
              <a:rPr lang="en-US" sz="1000" b="1" dirty="0" err="1">
                <a:solidFill>
                  <a:srgbClr val="FFFFFF"/>
                </a:solidFill>
                <a:latin typeface="Calibri"/>
                <a:ea typeface="Calibri"/>
                <a:cs typeface="Calibri"/>
              </a:rPr>
              <a:t>Winsorize</a:t>
            </a:r>
            <a:endParaRPr lang="en-US" sz="1000" b="1" dirty="0">
              <a:solidFill>
                <a:srgbClr val="FFFFFF"/>
              </a:solidFill>
              <a:latin typeface="Calibri"/>
              <a:ea typeface="Calibri"/>
              <a:cs typeface="Calibri"/>
            </a:endParaRPr>
          </a:p>
        </p:txBody>
      </p:sp>
      <p:sp>
        <p:nvSpPr>
          <p:cNvPr id="56" name="Text 33">
            <a:extLst>
              <a:ext uri="{FF2B5EF4-FFF2-40B4-BE49-F238E27FC236}">
                <a16:creationId xmlns:a16="http://schemas.microsoft.com/office/drawing/2014/main" id="{EA4FE73B-C46A-E366-39F7-9D182C1C15FD}"/>
              </a:ext>
            </a:extLst>
          </p:cNvPr>
          <p:cNvSpPr/>
          <p:nvPr/>
        </p:nvSpPr>
        <p:spPr>
          <a:xfrm>
            <a:off x="4771717" y="3929094"/>
            <a:ext cx="257370" cy="502920"/>
          </a:xfrm>
          <a:prstGeom prst="rect">
            <a:avLst/>
          </a:prstGeom>
          <a:noFill/>
          <a:ln/>
        </p:spPr>
        <p:txBody>
          <a:bodyPr wrap="square" lIns="0" tIns="0" rIns="0" bIns="0" rtlCol="0" anchor="ctr"/>
          <a:lstStyle/>
          <a:p>
            <a:pPr algn="ctr"/>
            <a:r>
              <a:rPr lang="en-US" sz="1400" dirty="0">
                <a:solidFill>
                  <a:srgbClr val="64748B"/>
                </a:solidFill>
                <a:latin typeface="Calibri"/>
                <a:ea typeface="Calibri"/>
                <a:cs typeface="Calibri"/>
              </a:rPr>
              <a:t>→</a:t>
            </a:r>
            <a:endParaRPr lang="en-US" sz="1400" dirty="0">
              <a:solidFill>
                <a:srgbClr val="000000"/>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Models &amp; Performance</a:t>
            </a:r>
            <a:endParaRPr lang="en-US" sz="2600" dirty="0"/>
          </a:p>
        </p:txBody>
      </p:sp>
      <p:sp>
        <p:nvSpPr>
          <p:cNvPr id="3" name="Text 1"/>
          <p:cNvSpPr/>
          <p:nvPr/>
        </p:nvSpPr>
        <p:spPr>
          <a:xfrm>
            <a:off x="436291" y="735869"/>
            <a:ext cx="8229600" cy="274320"/>
          </a:xfrm>
          <a:prstGeom prst="rect">
            <a:avLst/>
          </a:prstGeom>
          <a:noFill/>
          <a:ln/>
        </p:spPr>
        <p:txBody>
          <a:bodyPr wrap="square" lIns="0" tIns="0" rIns="0" bIns="0" rtlCol="0" anchor="ctr"/>
          <a:lstStyle/>
          <a:p>
            <a:r>
              <a:rPr lang="en-US" sz="1300" i="1">
                <a:solidFill>
                  <a:srgbClr val="64748B"/>
                </a:solidFill>
                <a:latin typeface="Calibri"/>
                <a:ea typeface="Calibri"/>
                <a:cs typeface="Calibri"/>
              </a:rPr>
              <a:t>Four models trained and compared on the same validation set</a:t>
            </a:r>
            <a:endParaRPr lang="en-US" sz="1300">
              <a:latin typeface="Calibri"/>
              <a:ea typeface="Calibri"/>
              <a:cs typeface="Calibri"/>
            </a:endParaRPr>
          </a:p>
        </p:txBody>
      </p:sp>
      <p:sp>
        <p:nvSpPr>
          <p:cNvPr id="4" name="Shape 2"/>
          <p:cNvSpPr/>
          <p:nvPr/>
        </p:nvSpPr>
        <p:spPr>
          <a:xfrm>
            <a:off x="436291" y="1009743"/>
            <a:ext cx="8229600" cy="27432"/>
          </a:xfrm>
          <a:prstGeom prst="rect">
            <a:avLst/>
          </a:prstGeom>
          <a:solidFill>
            <a:srgbClr val="0D9488"/>
          </a:solidFill>
          <a:ln w="12700">
            <a:solidFill>
              <a:srgbClr val="0D9488"/>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2448650394"/>
              </p:ext>
            </p:extLst>
          </p:nvPr>
        </p:nvGraphicFramePr>
        <p:xfrm>
          <a:off x="428883" y="1150806"/>
          <a:ext cx="8260076" cy="2037800"/>
        </p:xfrm>
        <a:graphic>
          <a:graphicData uri="http://schemas.openxmlformats.org/drawingml/2006/table">
            <a:tbl>
              <a:tblPr/>
              <a:tblGrid>
                <a:gridCol w="2108956">
                  <a:extLst>
                    <a:ext uri="{9D8B030D-6E8A-4147-A177-3AD203B41FA5}">
                      <a16:colId xmlns:a16="http://schemas.microsoft.com/office/drawing/2014/main" val="20000"/>
                    </a:ext>
                  </a:extLst>
                </a:gridCol>
                <a:gridCol w="1230224">
                  <a:extLst>
                    <a:ext uri="{9D8B030D-6E8A-4147-A177-3AD203B41FA5}">
                      <a16:colId xmlns:a16="http://schemas.microsoft.com/office/drawing/2014/main" val="20001"/>
                    </a:ext>
                  </a:extLst>
                </a:gridCol>
                <a:gridCol w="1230224">
                  <a:extLst>
                    <a:ext uri="{9D8B030D-6E8A-4147-A177-3AD203B41FA5}">
                      <a16:colId xmlns:a16="http://schemas.microsoft.com/office/drawing/2014/main" val="20002"/>
                    </a:ext>
                  </a:extLst>
                </a:gridCol>
                <a:gridCol w="1230224">
                  <a:extLst>
                    <a:ext uri="{9D8B030D-6E8A-4147-A177-3AD203B41FA5}">
                      <a16:colId xmlns:a16="http://schemas.microsoft.com/office/drawing/2014/main" val="20003"/>
                    </a:ext>
                  </a:extLst>
                </a:gridCol>
                <a:gridCol w="1230224">
                  <a:extLst>
                    <a:ext uri="{9D8B030D-6E8A-4147-A177-3AD203B41FA5}">
                      <a16:colId xmlns:a16="http://schemas.microsoft.com/office/drawing/2014/main" val="20004"/>
                    </a:ext>
                  </a:extLst>
                </a:gridCol>
                <a:gridCol w="1230224">
                  <a:extLst>
                    <a:ext uri="{9D8B030D-6E8A-4147-A177-3AD203B41FA5}">
                      <a16:colId xmlns:a16="http://schemas.microsoft.com/office/drawing/2014/main" val="20005"/>
                    </a:ext>
                  </a:extLst>
                </a:gridCol>
              </a:tblGrid>
              <a:tr h="395150">
                <a:tc>
                  <a:txBody>
                    <a:bodyPr/>
                    <a:lstStyle/>
                    <a:p>
                      <a:pPr marL="0" indent="0" algn="ctr">
                        <a:buNone/>
                      </a:pPr>
                      <a:r>
                        <a:rPr lang="en-US" sz="1300" b="1" dirty="0">
                          <a:solidFill>
                            <a:srgbClr val="FFFFFF"/>
                          </a:solidFill>
                        </a:rPr>
                        <a:t>Model</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rPr>
                        <a:t>Accuracy</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rPr>
                        <a:t>Precision</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rPr>
                        <a:t>Recall</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rPr>
                        <a:t>F1 Score</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rPr>
                        <a:t>Selected?</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95150">
                <a:tc>
                  <a:txBody>
                    <a:bodyPr/>
                    <a:lstStyle/>
                    <a:p>
                      <a:pPr marL="0" indent="0" algn="ctr">
                        <a:buNone/>
                      </a:pPr>
                      <a:r>
                        <a:rPr lang="en-US" sz="1200" b="1" dirty="0">
                          <a:solidFill>
                            <a:srgbClr val="1B2A4A"/>
                          </a:solidFill>
                        </a:rPr>
                        <a:t>Logistic Regression</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tc>
                  <a:txBody>
                    <a:bodyPr/>
                    <a:lstStyle/>
                    <a:p>
                      <a:pPr marL="0" indent="0" algn="ctr">
                        <a:buNone/>
                      </a:pPr>
                      <a:r>
                        <a:rPr lang="en-US" sz="1200">
                          <a:solidFill>
                            <a:srgbClr val="1E293B"/>
                          </a:solidFill>
                        </a:rPr>
                        <a:t>87.0%</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tc>
                  <a:txBody>
                    <a:bodyPr/>
                    <a:lstStyle/>
                    <a:p>
                      <a:pPr marL="0" indent="0" algn="ctr">
                        <a:buNone/>
                      </a:pPr>
                      <a:r>
                        <a:rPr lang="en-US" sz="1200">
                          <a:solidFill>
                            <a:srgbClr val="1E293B"/>
                          </a:solidFill>
                        </a:rPr>
                        <a:t>86.4%</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tc>
                  <a:txBody>
                    <a:bodyPr/>
                    <a:lstStyle/>
                    <a:p>
                      <a:pPr marL="0" indent="0" algn="ctr">
                        <a:buNone/>
                      </a:pPr>
                      <a:r>
                        <a:rPr lang="en-US" sz="1200">
                          <a:solidFill>
                            <a:srgbClr val="1E293B"/>
                          </a:solidFill>
                        </a:rPr>
                        <a:t>90.9%</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tc>
                  <a:txBody>
                    <a:bodyPr/>
                    <a:lstStyle/>
                    <a:p>
                      <a:pPr marL="0" indent="0" algn="ctr">
                        <a:buNone/>
                      </a:pPr>
                      <a:r>
                        <a:rPr lang="en-US" sz="1200">
                          <a:solidFill>
                            <a:srgbClr val="1E293B"/>
                          </a:solidFill>
                        </a:rPr>
                        <a:t>88.6%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tc>
                  <a:txBody>
                    <a:bodyPr/>
                    <a:lstStyle/>
                    <a:p>
                      <a:pPr marL="0" indent="0" algn="ctr">
                        <a:buNone/>
                      </a:pPr>
                      <a:r>
                        <a:rPr lang="en-US" sz="1200" b="1" dirty="0">
                          <a:solidFill>
                            <a:srgbClr val="0D9488"/>
                          </a:solidFill>
                        </a:rPr>
                        <a:t>✔ Yes</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CFBF1"/>
                    </a:solidFill>
                  </a:tcPr>
                </a:tc>
                <a:extLst>
                  <a:ext uri="{0D108BD9-81ED-4DB2-BD59-A6C34878D82A}">
                    <a16:rowId xmlns:a16="http://schemas.microsoft.com/office/drawing/2014/main" val="10001"/>
                  </a:ext>
                </a:extLst>
              </a:tr>
              <a:tr h="395150">
                <a:tc>
                  <a:txBody>
                    <a:bodyPr/>
                    <a:lstStyle/>
                    <a:p>
                      <a:pPr marL="0" indent="0" algn="ctr">
                        <a:buNone/>
                      </a:pPr>
                      <a:r>
                        <a:rPr lang="en-US" sz="1200">
                          <a:solidFill>
                            <a:srgbClr val="1E293B"/>
                          </a:solidFill>
                        </a:rPr>
                        <a:t>Random Forest (Tuned)</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1E293B"/>
                          </a:solidFill>
                        </a:rPr>
                        <a:t>84.1%</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1E293B"/>
                          </a:solidFill>
                        </a:rPr>
                        <a:t>82.4%</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1E293B"/>
                          </a:solidFill>
                        </a:rPr>
                        <a:t>90.9%</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E293B"/>
                          </a:solidFill>
                        </a:rPr>
                        <a:t>86.4%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64748B"/>
                          </a:solidFill>
                        </a:rPr>
                        <a:t>-</a:t>
                      </a:r>
                      <a:endParaRPr lang="en-US" sz="1200" dirty="0">
                        <a:solidFill>
                          <a:srgbClr val="64748B"/>
                        </a:solidFill>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95150">
                <a:tc>
                  <a:txBody>
                    <a:bodyPr/>
                    <a:lstStyle/>
                    <a:p>
                      <a:pPr marL="0" indent="0" algn="ctr">
                        <a:buNone/>
                      </a:pPr>
                      <a:r>
                        <a:rPr lang="en-US" sz="1200">
                          <a:solidFill>
                            <a:srgbClr val="1E293B"/>
                          </a:solidFill>
                        </a:rPr>
                        <a:t>Gradient Boosting </a:t>
                      </a:r>
                      <a:r>
                        <a:rPr lang="en-US" sz="1200" b="0" i="0" u="none" strike="noStrike" noProof="0">
                          <a:solidFill>
                            <a:srgbClr val="1E293B"/>
                          </a:solidFill>
                          <a:latin typeface="Calibri"/>
                          <a:ea typeface="Calibri"/>
                          <a:cs typeface="Calibri"/>
                        </a:rPr>
                        <a:t>(Tuned)</a:t>
                      </a:r>
                      <a:endParaRPr lang="en-US" sz="1200" b="0" i="0" u="none" strike="noStrike" noProof="0">
                        <a:solidFill>
                          <a:srgbClr val="000000"/>
                        </a:solidFill>
                        <a:latin typeface="Calibri"/>
                        <a:ea typeface="Calibri"/>
                        <a:cs typeface="Calibri"/>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1E293B"/>
                          </a:solidFill>
                        </a:rPr>
                        <a:t>82.6%</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lvl="0" indent="0" algn="ctr">
                        <a:buNone/>
                      </a:pPr>
                      <a:r>
                        <a:rPr lang="en-US" sz="1200" b="0" i="0" u="none" strike="noStrike" noProof="0">
                          <a:solidFill>
                            <a:srgbClr val="1E293B"/>
                          </a:solidFill>
                          <a:latin typeface="Calibri"/>
                          <a:ea typeface="Calibri"/>
                          <a:cs typeface="Calibri"/>
                        </a:rPr>
                        <a:t>79.8%</a:t>
                      </a:r>
                      <a:endParaRPr lang="en-US" b="0" i="0" u="none" strike="noStrike" noProof="0">
                        <a:latin typeface="Calibri"/>
                        <a:ea typeface="Calibri"/>
                        <a:cs typeface="Calibri"/>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1E293B"/>
                          </a:solidFill>
                        </a:rPr>
                        <a:t>92.2%</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lvl="0" indent="0" algn="ctr">
                        <a:buNone/>
                      </a:pPr>
                      <a:r>
                        <a:rPr lang="en-US" sz="1200">
                          <a:solidFill>
                            <a:srgbClr val="1E293B"/>
                          </a:solidFill>
                        </a:rPr>
                        <a:t>85.5%</a:t>
                      </a:r>
                      <a:endParaRPr lang="en-US" sz="120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a:solidFill>
                            <a:srgbClr val="64748B"/>
                          </a:solidFill>
                        </a:rPr>
                        <a:t>-</a:t>
                      </a:r>
                      <a:endParaRPr lang="en-US" sz="1200" dirty="0">
                        <a:solidFill>
                          <a:srgbClr val="64748B"/>
                        </a:solidFill>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lvl="0" indent="0" algn="ctr">
                        <a:buNone/>
                      </a:pPr>
                      <a:r>
                        <a:rPr lang="en-US" sz="1200" b="0" i="0" u="none" strike="noStrike" noProof="0" dirty="0" err="1">
                          <a:solidFill>
                            <a:srgbClr val="1E293B"/>
                          </a:solidFill>
                          <a:latin typeface="Calibri"/>
                          <a:ea typeface="Calibri"/>
                          <a:cs typeface="Calibri"/>
                        </a:rPr>
                        <a:t>XGBoost</a:t>
                      </a:r>
                      <a:r>
                        <a:rPr lang="en-US" sz="1200" b="0" i="0" u="none" strike="noStrike" noProof="0" dirty="0">
                          <a:solidFill>
                            <a:srgbClr val="1E293B"/>
                          </a:solidFill>
                          <a:latin typeface="Calibri"/>
                          <a:ea typeface="Calibri"/>
                          <a:cs typeface="Calibri"/>
                        </a:rPr>
                        <a:t> (Tuned)</a:t>
                      </a:r>
                      <a:endParaRPr lang="en-US" sz="1200" b="0" i="0" u="none" strike="noStrike" noProof="0" dirty="0">
                        <a:solidFill>
                          <a:srgbClr val="000000"/>
                        </a:solidFill>
                        <a:latin typeface="Calibri"/>
                        <a:ea typeface="Calibri"/>
                        <a:cs typeface="Calibri"/>
                      </a:endParaRPr>
                    </a:p>
                  </a:txBody>
                  <a:tcPr>
                    <a:lnL w="12700">
                      <a:solidFill>
                        <a:srgbClr val="E2E8F0"/>
                      </a:solidFill>
                    </a:lnL>
                    <a:lnR w="12700">
                      <a:solidFill>
                        <a:srgbClr val="E2E8F0"/>
                      </a:solidFill>
                    </a:lnR>
                    <a:lnT w="12700">
                      <a:solidFill>
                        <a:srgbClr val="E2E8F0"/>
                      </a:solidFill>
                    </a:lnT>
                    <a:lnB w="12700">
                      <a:solidFill>
                        <a:srgbClr val="E2E8F0"/>
                      </a:solidFill>
                    </a:lnB>
                  </a:tcPr>
                </a:tc>
                <a:tc>
                  <a:txBody>
                    <a:bodyPr/>
                    <a:lstStyle/>
                    <a:p>
                      <a:pPr lvl="0" algn="ctr">
                        <a:lnSpc>
                          <a:spcPct val="100000"/>
                        </a:lnSpc>
                        <a:spcBef>
                          <a:spcPts val="0"/>
                        </a:spcBef>
                        <a:spcAft>
                          <a:spcPts val="0"/>
                        </a:spcAft>
                        <a:buNone/>
                      </a:pPr>
                      <a:r>
                        <a:rPr lang="en-US" sz="1200" b="0" i="0" u="none" strike="noStrike" noProof="0">
                          <a:solidFill>
                            <a:srgbClr val="1E293B"/>
                          </a:solidFill>
                          <a:latin typeface="Calibri"/>
                          <a:ea typeface="Calibri"/>
                          <a:cs typeface="Calibri"/>
                        </a:rPr>
                        <a:t>82.6%</a:t>
                      </a:r>
                      <a:endParaRPr lang="en-US" sz="1200" b="0" i="0" u="none" strike="noStrike" noProof="0">
                        <a:solidFill>
                          <a:srgbClr val="000000"/>
                        </a:solidFill>
                        <a:latin typeface="Calibri"/>
                        <a:ea typeface="Calibri"/>
                        <a:cs typeface="Calibri"/>
                      </a:endParaRPr>
                    </a:p>
                    <a:p>
                      <a:pPr marL="0" lvl="0" indent="0" algn="ctr">
                        <a:buNone/>
                      </a:pPr>
                      <a:endParaRPr lang="en-US" sz="1200" dirty="0">
                        <a:solidFill>
                          <a:srgbClr val="1E293B"/>
                        </a:solidFill>
                      </a:endParaRPr>
                    </a:p>
                  </a:txBody>
                  <a:tcPr>
                    <a:lnL w="12700">
                      <a:solidFill>
                        <a:srgbClr val="E2E8F0"/>
                      </a:solidFill>
                    </a:lnL>
                    <a:lnR w="12700">
                      <a:solidFill>
                        <a:srgbClr val="E2E8F0"/>
                      </a:solidFill>
                    </a:lnR>
                    <a:lnT w="12700">
                      <a:solidFill>
                        <a:srgbClr val="E2E8F0"/>
                      </a:solidFill>
                    </a:lnT>
                    <a:lnB w="12700">
                      <a:solidFill>
                        <a:srgbClr val="E2E8F0"/>
                      </a:solidFill>
                    </a:lnB>
                  </a:tcPr>
                </a:tc>
                <a:tc>
                  <a:txBody>
                    <a:bodyPr/>
                    <a:lstStyle/>
                    <a:p>
                      <a:pPr marL="0" lvl="0" indent="0" algn="ctr">
                        <a:buNone/>
                      </a:pPr>
                      <a:r>
                        <a:rPr lang="en-US" sz="1200" b="0" i="0" u="none" strike="noStrike" noProof="0">
                          <a:solidFill>
                            <a:srgbClr val="1E293B"/>
                          </a:solidFill>
                          <a:latin typeface="Calibri"/>
                          <a:ea typeface="Calibri"/>
                          <a:cs typeface="Calibri"/>
                        </a:rPr>
                        <a:t>79.8%</a:t>
                      </a:r>
                      <a:endParaRPr lang="en-US"/>
                    </a:p>
                  </a:txBody>
                  <a:tcPr>
                    <a:lnL w="12700">
                      <a:solidFill>
                        <a:srgbClr val="E2E8F0"/>
                      </a:solidFill>
                    </a:lnL>
                    <a:lnR w="12700">
                      <a:solidFill>
                        <a:srgbClr val="E2E8F0"/>
                      </a:solidFill>
                    </a:lnR>
                    <a:lnT w="12700">
                      <a:solidFill>
                        <a:srgbClr val="E2E8F0"/>
                      </a:solidFill>
                    </a:lnT>
                    <a:lnB w="12700">
                      <a:solidFill>
                        <a:srgbClr val="E2E8F0"/>
                      </a:solidFill>
                    </a:lnB>
                  </a:tcPr>
                </a:tc>
                <a:tc>
                  <a:txBody>
                    <a:bodyPr/>
                    <a:lstStyle/>
                    <a:p>
                      <a:pPr marL="0" lvl="0" indent="0" algn="ctr">
                        <a:buNone/>
                      </a:pPr>
                      <a:r>
                        <a:rPr lang="en-US" sz="1200" b="0" i="0" u="none" strike="noStrike" noProof="0">
                          <a:solidFill>
                            <a:srgbClr val="1E293B"/>
                          </a:solidFill>
                          <a:latin typeface="Calibri"/>
                          <a:ea typeface="Calibri"/>
                          <a:cs typeface="Calibri"/>
                        </a:rPr>
                        <a:t>92.2%</a:t>
                      </a:r>
                      <a:endParaRPr lang="en-US"/>
                    </a:p>
                  </a:txBody>
                  <a:tcPr>
                    <a:lnL w="12700">
                      <a:solidFill>
                        <a:srgbClr val="E2E8F0"/>
                      </a:solidFill>
                    </a:lnL>
                    <a:lnR w="12700">
                      <a:solidFill>
                        <a:srgbClr val="E2E8F0"/>
                      </a:solidFill>
                    </a:lnR>
                    <a:lnT w="12700">
                      <a:solidFill>
                        <a:srgbClr val="E2E8F0"/>
                      </a:solidFill>
                    </a:lnT>
                    <a:lnB w="12700">
                      <a:solidFill>
                        <a:srgbClr val="E2E8F0"/>
                      </a:solidFill>
                    </a:lnB>
                  </a:tcPr>
                </a:tc>
                <a:tc>
                  <a:txBody>
                    <a:bodyPr/>
                    <a:lstStyle/>
                    <a:p>
                      <a:pPr marL="0" lvl="0" indent="0" algn="ctr">
                        <a:buNone/>
                      </a:pPr>
                      <a:r>
                        <a:rPr lang="en-US" sz="1200" b="0" i="0" u="none" strike="noStrike" noProof="0">
                          <a:solidFill>
                            <a:srgbClr val="1E293B"/>
                          </a:solidFill>
                          <a:latin typeface="Calibri"/>
                          <a:ea typeface="Calibri"/>
                          <a:cs typeface="Calibri"/>
                        </a:rPr>
                        <a:t>85.5%</a:t>
                      </a:r>
                      <a:endParaRPr lang="en-US"/>
                    </a:p>
                  </a:txBody>
                  <a:tcPr>
                    <a:lnL w="12700">
                      <a:solidFill>
                        <a:srgbClr val="E2E8F0"/>
                      </a:solidFill>
                    </a:lnL>
                    <a:lnR w="12700">
                      <a:solidFill>
                        <a:srgbClr val="E2E8F0"/>
                      </a:solidFill>
                    </a:lnR>
                    <a:lnT w="12700">
                      <a:solidFill>
                        <a:srgbClr val="E2E8F0"/>
                      </a:solidFill>
                    </a:lnT>
                    <a:lnB w="12700">
                      <a:solidFill>
                        <a:srgbClr val="E2E8F0"/>
                      </a:solidFill>
                    </a:lnB>
                  </a:tcPr>
                </a:tc>
                <a:tc>
                  <a:txBody>
                    <a:bodyPr/>
                    <a:lstStyle/>
                    <a:p>
                      <a:pPr marL="0" lvl="0" indent="0" algn="ctr">
                        <a:buNone/>
                      </a:pPr>
                      <a:r>
                        <a:rPr lang="en-US" sz="1200" b="0" i="0" u="none" strike="noStrike" noProof="0" dirty="0">
                          <a:solidFill>
                            <a:srgbClr val="64748B"/>
                          </a:solidFill>
                          <a:latin typeface="Calibri"/>
                          <a:ea typeface="Calibri"/>
                          <a:cs typeface="Calibri"/>
                        </a:rPr>
                        <a:t>-</a:t>
                      </a:r>
                    </a:p>
                  </a:txBody>
                  <a:tcPr>
                    <a:lnL w="12700">
                      <a:solidFill>
                        <a:srgbClr val="E2E8F0"/>
                      </a:solidFill>
                    </a:lnL>
                    <a:lnR w="12700">
                      <a:solidFill>
                        <a:srgbClr val="E2E8F0"/>
                      </a:solidFill>
                    </a:lnR>
                    <a:lnT w="12700">
                      <a:solidFill>
                        <a:srgbClr val="E2E8F0"/>
                      </a:solidFill>
                    </a:lnT>
                    <a:lnB w="12700">
                      <a:solidFill>
                        <a:srgbClr val="E2E8F0"/>
                      </a:solidFill>
                    </a:lnB>
                  </a:tcPr>
                </a:tc>
                <a:extLst>
                  <a:ext uri="{0D108BD9-81ED-4DB2-BD59-A6C34878D82A}">
                    <a16:rowId xmlns:a16="http://schemas.microsoft.com/office/drawing/2014/main" val="1340474012"/>
                  </a:ext>
                </a:extLst>
              </a:tr>
            </a:tbl>
          </a:graphicData>
        </a:graphic>
      </p:graphicFrame>
      <p:sp>
        <p:nvSpPr>
          <p:cNvPr id="6" name="Text 3"/>
          <p:cNvSpPr/>
          <p:nvPr/>
        </p:nvSpPr>
        <p:spPr>
          <a:xfrm>
            <a:off x="457200" y="3124571"/>
            <a:ext cx="7521218" cy="347918"/>
          </a:xfrm>
          <a:prstGeom prst="rect">
            <a:avLst/>
          </a:prstGeom>
          <a:noFill/>
          <a:ln/>
        </p:spPr>
        <p:txBody>
          <a:bodyPr wrap="square" lIns="0" tIns="0" rIns="0" bIns="0" rtlCol="0" anchor="ctr"/>
          <a:lstStyle/>
          <a:p>
            <a:r>
              <a:rPr lang="en-US" sz="1200" b="1" i="1">
                <a:solidFill>
                  <a:srgbClr val="1B2A4A"/>
                </a:solidFill>
                <a:ea typeface="+mn-lt"/>
                <a:cs typeface="+mn-lt"/>
              </a:rPr>
              <a:t>Final test set performance of selected model: Accuracy 87.0%, Recall 93.4%, ROC-AUC 92.0%</a:t>
            </a:r>
            <a:endParaRPr lang="en-US" sz="1200" b="1" i="1">
              <a:ea typeface="Calibri"/>
              <a:cs typeface="Calibri"/>
            </a:endParaRPr>
          </a:p>
        </p:txBody>
      </p:sp>
      <p:sp>
        <p:nvSpPr>
          <p:cNvPr id="7" name="Text 4"/>
          <p:cNvSpPr/>
          <p:nvPr/>
        </p:nvSpPr>
        <p:spPr>
          <a:xfrm>
            <a:off x="457200" y="3762142"/>
            <a:ext cx="4846320" cy="1175618"/>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E293B"/>
                </a:solidFill>
                <a:latin typeface="Calibri"/>
                <a:ea typeface="Calibri"/>
                <a:cs typeface="Calibri"/>
              </a:rPr>
              <a:t>Highest recall (90.9%) - most crucial for medical screening; missing a sick patient is costlier than a false alarm</a:t>
            </a:r>
            <a:endParaRPr lang="en-US" sz="1200" dirty="0">
              <a:latin typeface="Calibri"/>
              <a:ea typeface="Calibri"/>
              <a:cs typeface="Calibri"/>
            </a:endParaRPr>
          </a:p>
          <a:p>
            <a:pPr marL="342900" indent="-342900">
              <a:spcAft>
                <a:spcPts val="400"/>
              </a:spcAft>
              <a:buSzPct val="100000"/>
              <a:buChar char="•"/>
            </a:pPr>
            <a:r>
              <a:rPr lang="en-US" sz="1200" dirty="0">
                <a:solidFill>
                  <a:srgbClr val="1E293B"/>
                </a:solidFill>
                <a:latin typeface="Calibri"/>
                <a:ea typeface="Calibri"/>
                <a:cs typeface="Calibri"/>
              </a:rPr>
              <a:t>Fully interpretable - coefficients directly show feature influence</a:t>
            </a:r>
            <a:endParaRPr lang="en-US" sz="1200" dirty="0">
              <a:latin typeface="Calibri"/>
              <a:ea typeface="Calibri"/>
              <a:cs typeface="Calibri"/>
            </a:endParaRPr>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Pairs naturally with SHAP for per-patient explanations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Threshold tuned to 0.45 to further boost recall on the test set</a:t>
            </a:r>
            <a:endParaRPr lang="en-US" sz="1200" dirty="0"/>
          </a:p>
        </p:txBody>
      </p:sp>
      <p:graphicFrame>
        <p:nvGraphicFramePr>
          <p:cNvPr id="8" name="Chart 0"/>
          <p:cNvGraphicFramePr/>
          <p:nvPr>
            <p:extLst>
              <p:ext uri="{D42A27DB-BD31-4B8C-83A1-F6EECF244321}">
                <p14:modId xmlns:p14="http://schemas.microsoft.com/office/powerpoint/2010/main" val="3011026802"/>
              </p:ext>
            </p:extLst>
          </p:nvPr>
        </p:nvGraphicFramePr>
        <p:xfrm>
          <a:off x="5449879" y="3472210"/>
          <a:ext cx="3328361" cy="155699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3">
            <a:extLst>
              <a:ext uri="{FF2B5EF4-FFF2-40B4-BE49-F238E27FC236}">
                <a16:creationId xmlns:a16="http://schemas.microsoft.com/office/drawing/2014/main" id="{F7A8DA6F-51CD-CD5B-30EF-D61D69A26C0F}"/>
              </a:ext>
            </a:extLst>
          </p:cNvPr>
          <p:cNvSpPr/>
          <p:nvPr/>
        </p:nvSpPr>
        <p:spPr>
          <a:xfrm>
            <a:off x="463731" y="3606463"/>
            <a:ext cx="3931920" cy="138833"/>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Why Logistic Regression?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Explainability with SHAP</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Which clinical features drive disease risk predictions?</a:t>
            </a:r>
            <a:endParaRPr lang="en-US" sz="1300" dirty="0"/>
          </a:p>
        </p:txBody>
      </p:sp>
      <p:sp>
        <p:nvSpPr>
          <p:cNvPr id="4" name="Shape 2"/>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1234440"/>
            <a:ext cx="457200" cy="457200"/>
          </a:xfrm>
          <a:prstGeom prst="rect">
            <a:avLst/>
          </a:prstGeom>
        </p:spPr>
      </p:pic>
      <p:sp>
        <p:nvSpPr>
          <p:cNvPr id="6" name="Text 3"/>
          <p:cNvSpPr/>
          <p:nvPr/>
        </p:nvSpPr>
        <p:spPr>
          <a:xfrm>
            <a:off x="1051560" y="1234440"/>
            <a:ext cx="7635240" cy="502920"/>
          </a:xfrm>
          <a:prstGeom prst="rect">
            <a:avLst/>
          </a:prstGeom>
          <a:noFill/>
          <a:ln/>
        </p:spPr>
        <p:txBody>
          <a:bodyPr wrap="square" lIns="0" tIns="0" rIns="0" bIns="0" rtlCol="0" anchor="ctr"/>
          <a:lstStyle/>
          <a:p>
            <a:r>
              <a:rPr lang="en-US" sz="1300">
                <a:solidFill>
                  <a:srgbClr val="1E293B"/>
                </a:solidFill>
                <a:latin typeface="Calibri"/>
                <a:ea typeface="Calibri"/>
                <a:cs typeface="Calibri"/>
              </a:rPr>
              <a:t>SHAP (Shapley Additive Explanations) answers the black-box problem - it shows exactly how much each feature </a:t>
            </a:r>
            <a:r>
              <a:rPr lang="en-US" sz="1300" dirty="0">
                <a:solidFill>
                  <a:srgbClr val="1E293B"/>
                </a:solidFill>
                <a:latin typeface="Calibri"/>
                <a:ea typeface="Calibri"/>
                <a:cs typeface="Calibri"/>
              </a:rPr>
              <a:t>pushed a prediction toward or away from disease.</a:t>
            </a:r>
            <a:endParaRPr lang="en-US" sz="1300" dirty="0">
              <a:latin typeface="Calibri"/>
              <a:ea typeface="Calibri"/>
              <a:cs typeface="Calibri"/>
            </a:endParaRPr>
          </a:p>
        </p:txBody>
      </p:sp>
      <p:sp>
        <p:nvSpPr>
          <p:cNvPr id="8" name="Shape 4"/>
          <p:cNvSpPr/>
          <p:nvPr/>
        </p:nvSpPr>
        <p:spPr>
          <a:xfrm>
            <a:off x="5669280" y="1874520"/>
            <a:ext cx="3017520" cy="132588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9" name="Shape 5"/>
          <p:cNvSpPr/>
          <p:nvPr/>
        </p:nvSpPr>
        <p:spPr>
          <a:xfrm>
            <a:off x="5669280" y="1874520"/>
            <a:ext cx="3017520" cy="64008"/>
          </a:xfrm>
          <a:prstGeom prst="rect">
            <a:avLst/>
          </a:prstGeom>
          <a:solidFill>
            <a:srgbClr val="0D9488"/>
          </a:solidFill>
          <a:ln w="12700">
            <a:solidFill>
              <a:srgbClr val="0D9488"/>
            </a:solidFill>
            <a:prstDash val="solid"/>
          </a:ln>
        </p:spPr>
        <p:txBody>
          <a:bodyPr/>
          <a:lstStyle/>
          <a:p>
            <a:endParaRPr lang="en-US"/>
          </a:p>
        </p:txBody>
      </p:sp>
      <p:sp>
        <p:nvSpPr>
          <p:cNvPr id="10" name="Text 6"/>
          <p:cNvSpPr/>
          <p:nvPr/>
        </p:nvSpPr>
        <p:spPr>
          <a:xfrm>
            <a:off x="5806440" y="2011680"/>
            <a:ext cx="274320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Global Insight</a:t>
            </a:r>
            <a:endParaRPr lang="en-US" sz="1300" dirty="0"/>
          </a:p>
        </p:txBody>
      </p:sp>
      <p:sp>
        <p:nvSpPr>
          <p:cNvPr id="11" name="Text 7"/>
          <p:cNvSpPr/>
          <p:nvPr/>
        </p:nvSpPr>
        <p:spPr>
          <a:xfrm>
            <a:off x="5806440" y="2331720"/>
            <a:ext cx="2743200" cy="777240"/>
          </a:xfrm>
          <a:prstGeom prst="rect">
            <a:avLst/>
          </a:prstGeom>
          <a:noFill/>
          <a:ln/>
        </p:spPr>
        <p:txBody>
          <a:bodyPr wrap="square" lIns="0" tIns="0" rIns="0" bIns="0" rtlCol="0" anchor="ctr"/>
          <a:lstStyle/>
          <a:p>
            <a:r>
              <a:rPr lang="en-US" sz="1100" dirty="0">
                <a:solidFill>
                  <a:srgbClr val="64748B"/>
                </a:solidFill>
                <a:ea typeface="+mn-lt"/>
                <a:cs typeface="+mn-lt"/>
              </a:rPr>
              <a:t>Chest pain type, ST depression, and exercise-induced angina are the three strongest predictors - consistent with established cardiovascular risk factors and </a:t>
            </a:r>
            <a:r>
              <a:rPr lang="en-US" sz="1100">
                <a:solidFill>
                  <a:srgbClr val="64748B"/>
                </a:solidFill>
                <a:ea typeface="+mn-lt"/>
                <a:cs typeface="+mn-lt"/>
              </a:rPr>
              <a:t>confirmed</a:t>
            </a:r>
            <a:r>
              <a:rPr lang="en-US" sz="1100" dirty="0">
                <a:solidFill>
                  <a:srgbClr val="64748B"/>
                </a:solidFill>
                <a:ea typeface="+mn-lt"/>
                <a:cs typeface="+mn-lt"/>
              </a:rPr>
              <a:t> across EDA, model coefficients, and SHAP analysis</a:t>
            </a:r>
            <a:endParaRPr lang="en-US" dirty="0"/>
          </a:p>
        </p:txBody>
      </p:sp>
      <p:sp>
        <p:nvSpPr>
          <p:cNvPr id="12" name="Shape 8"/>
          <p:cNvSpPr/>
          <p:nvPr/>
        </p:nvSpPr>
        <p:spPr>
          <a:xfrm>
            <a:off x="5669280" y="3383280"/>
            <a:ext cx="3017520" cy="132588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dirty="0"/>
          </a:p>
        </p:txBody>
      </p:sp>
      <p:sp>
        <p:nvSpPr>
          <p:cNvPr id="13" name="Shape 9"/>
          <p:cNvSpPr/>
          <p:nvPr/>
        </p:nvSpPr>
        <p:spPr>
          <a:xfrm>
            <a:off x="5669280" y="3383280"/>
            <a:ext cx="3017520" cy="64008"/>
          </a:xfrm>
          <a:prstGeom prst="rect">
            <a:avLst/>
          </a:prstGeom>
          <a:solidFill>
            <a:srgbClr val="1B2A4A"/>
          </a:solidFill>
          <a:ln w="12700">
            <a:solidFill>
              <a:srgbClr val="1B2A4A"/>
            </a:solidFill>
            <a:prstDash val="solid"/>
          </a:ln>
        </p:spPr>
        <p:txBody>
          <a:bodyPr/>
          <a:lstStyle/>
          <a:p>
            <a:endParaRPr lang="en-US"/>
          </a:p>
        </p:txBody>
      </p:sp>
      <p:sp>
        <p:nvSpPr>
          <p:cNvPr id="14" name="Text 10"/>
          <p:cNvSpPr/>
          <p:nvPr/>
        </p:nvSpPr>
        <p:spPr>
          <a:xfrm>
            <a:off x="5806440" y="3520440"/>
            <a:ext cx="274320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Local Insight</a:t>
            </a:r>
            <a:endParaRPr lang="en-US" sz="1300" dirty="0"/>
          </a:p>
        </p:txBody>
      </p:sp>
      <p:sp>
        <p:nvSpPr>
          <p:cNvPr id="15" name="Text 11"/>
          <p:cNvSpPr/>
          <p:nvPr/>
        </p:nvSpPr>
        <p:spPr>
          <a:xfrm>
            <a:off x="5806440" y="3840480"/>
            <a:ext cx="2743200" cy="777240"/>
          </a:xfrm>
          <a:prstGeom prst="rect">
            <a:avLst/>
          </a:prstGeom>
          <a:noFill/>
          <a:ln/>
        </p:spPr>
        <p:txBody>
          <a:bodyPr wrap="square" lIns="0" tIns="0" rIns="0" bIns="0" rtlCol="0" anchor="ctr"/>
          <a:lstStyle/>
          <a:p>
            <a:r>
              <a:rPr lang="en-US" sz="1100" dirty="0">
                <a:solidFill>
                  <a:srgbClr val="64748B"/>
                </a:solidFill>
                <a:latin typeface="Calibri"/>
                <a:ea typeface="Calibri"/>
                <a:cs typeface="Calibri"/>
              </a:rPr>
              <a:t>For each individual patient, SHAP shows a waterfall explaining why the model predicted </a:t>
            </a:r>
            <a:r>
              <a:rPr lang="en-US" sz="1100">
                <a:solidFill>
                  <a:srgbClr val="64748B"/>
                </a:solidFill>
                <a:latin typeface="Calibri"/>
                <a:ea typeface="Calibri"/>
                <a:cs typeface="Calibri"/>
              </a:rPr>
              <a:t>disease, enabling doctor-patient conversations</a:t>
            </a:r>
            <a:endParaRPr lang="en-US" sz="1100" dirty="0">
              <a:latin typeface="Calibri"/>
              <a:ea typeface="Calibri"/>
              <a:cs typeface="Calibri"/>
            </a:endParaRPr>
          </a:p>
        </p:txBody>
      </p:sp>
      <p:pic>
        <p:nvPicPr>
          <p:cNvPr id="16" name="Picture 15">
            <a:extLst>
              <a:ext uri="{FF2B5EF4-FFF2-40B4-BE49-F238E27FC236}">
                <a16:creationId xmlns:a16="http://schemas.microsoft.com/office/drawing/2014/main" id="{D11C5057-29DC-0071-C9E3-0DC17507E923}"/>
              </a:ext>
            </a:extLst>
          </p:cNvPr>
          <p:cNvPicPr>
            <a:picLocks noChangeAspect="1"/>
          </p:cNvPicPr>
          <p:nvPr/>
        </p:nvPicPr>
        <p:blipFill>
          <a:blip r:embed="rId4"/>
          <a:stretch>
            <a:fillRect/>
          </a:stretch>
        </p:blipFill>
        <p:spPr>
          <a:xfrm>
            <a:off x="685770" y="1798133"/>
            <a:ext cx="4552545" cy="33105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Prediction Workflow</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End-to-end: raw patient data → risk score → explanation</a:t>
            </a:r>
            <a:endParaRPr lang="en-US" sz="1300" dirty="0"/>
          </a:p>
        </p:txBody>
      </p:sp>
      <p:sp>
        <p:nvSpPr>
          <p:cNvPr id="4" name="Shape 2"/>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sp>
        <p:nvSpPr>
          <p:cNvPr id="5" name="Shape 3"/>
          <p:cNvSpPr/>
          <p:nvPr/>
        </p:nvSpPr>
        <p:spPr>
          <a:xfrm>
            <a:off x="365760" y="1553444"/>
            <a:ext cx="1371600" cy="1371600"/>
          </a:xfrm>
          <a:prstGeom prst="rect">
            <a:avLst/>
          </a:prstGeom>
          <a:solidFill>
            <a:srgbClr val="1B2A4A"/>
          </a:solidFill>
          <a:ln w="12700">
            <a:solidFill>
              <a:srgbClr val="1B2A4A"/>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22960" y="1663172"/>
            <a:ext cx="457200" cy="457200"/>
          </a:xfrm>
          <a:prstGeom prst="rect">
            <a:avLst/>
          </a:prstGeom>
        </p:spPr>
      </p:pic>
      <p:sp>
        <p:nvSpPr>
          <p:cNvPr id="7" name="Text 4"/>
          <p:cNvSpPr/>
          <p:nvPr/>
        </p:nvSpPr>
        <p:spPr>
          <a:xfrm>
            <a:off x="365760" y="2147804"/>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Raw Patient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8" name="Text 5"/>
          <p:cNvSpPr/>
          <p:nvPr/>
        </p:nvSpPr>
        <p:spPr>
          <a:xfrm>
            <a:off x="1737360" y="1964924"/>
            <a:ext cx="365760" cy="548640"/>
          </a:xfrm>
          <a:prstGeom prst="rect">
            <a:avLst/>
          </a:prstGeom>
          <a:noFill/>
          <a:ln/>
        </p:spPr>
        <p:txBody>
          <a:bodyPr wrap="square" lIns="0" tIns="0" rIns="0" bIns="0" rtlCol="0" anchor="ctr"/>
          <a:lstStyle/>
          <a:p>
            <a:pPr marL="0" indent="0" algn="ctr">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9" name="Text 6"/>
          <p:cNvSpPr/>
          <p:nvPr/>
        </p:nvSpPr>
        <p:spPr>
          <a:xfrm>
            <a:off x="365760" y="2943332"/>
            <a:ext cx="137160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Age, sex, BP, ECG…</a:t>
            </a:r>
            <a:endParaRPr lang="en-US" sz="1000" dirty="0"/>
          </a:p>
        </p:txBody>
      </p:sp>
      <p:sp>
        <p:nvSpPr>
          <p:cNvPr id="10" name="Shape 7"/>
          <p:cNvSpPr/>
          <p:nvPr/>
        </p:nvSpPr>
        <p:spPr>
          <a:xfrm>
            <a:off x="2103120" y="1553444"/>
            <a:ext cx="1371600" cy="1371600"/>
          </a:xfrm>
          <a:prstGeom prst="rect">
            <a:avLst/>
          </a:prstGeom>
          <a:solidFill>
            <a:srgbClr val="334D6E"/>
          </a:solidFill>
          <a:ln w="12700">
            <a:solidFill>
              <a:srgbClr val="334D6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560320" y="1663172"/>
            <a:ext cx="457200" cy="457200"/>
          </a:xfrm>
          <a:prstGeom prst="rect">
            <a:avLst/>
          </a:prstGeom>
        </p:spPr>
      </p:pic>
      <p:sp>
        <p:nvSpPr>
          <p:cNvPr id="12" name="Text 8"/>
          <p:cNvSpPr/>
          <p:nvPr/>
        </p:nvSpPr>
        <p:spPr>
          <a:xfrm>
            <a:off x="2103120" y="2147804"/>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Pipeline</a:t>
            </a:r>
            <a:endParaRPr lang="en-US" sz="1100" dirty="0"/>
          </a:p>
        </p:txBody>
      </p:sp>
      <p:sp>
        <p:nvSpPr>
          <p:cNvPr id="13" name="Text 9"/>
          <p:cNvSpPr/>
          <p:nvPr/>
        </p:nvSpPr>
        <p:spPr>
          <a:xfrm>
            <a:off x="3474720" y="1964924"/>
            <a:ext cx="365760" cy="548640"/>
          </a:xfrm>
          <a:prstGeom prst="rect">
            <a:avLst/>
          </a:prstGeom>
          <a:noFill/>
          <a:ln/>
        </p:spPr>
        <p:txBody>
          <a:bodyPr wrap="square" lIns="0" tIns="0" rIns="0" bIns="0" rtlCol="0" anchor="ctr"/>
          <a:lstStyle/>
          <a:p>
            <a:pPr marL="0" indent="0" algn="ctr">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4" name="Text 10"/>
          <p:cNvSpPr/>
          <p:nvPr/>
        </p:nvSpPr>
        <p:spPr>
          <a:xfrm>
            <a:off x="2103120" y="2943332"/>
            <a:ext cx="1371600" cy="347472"/>
          </a:xfrm>
          <a:prstGeom prst="rect">
            <a:avLst/>
          </a:prstGeom>
          <a:noFill/>
          <a:ln/>
        </p:spPr>
        <p:txBody>
          <a:bodyPr wrap="square" lIns="0" tIns="0" rIns="0" bIns="0" rtlCol="0" anchor="ctr"/>
          <a:lstStyle/>
          <a:p>
            <a:pPr algn="ctr"/>
            <a:r>
              <a:rPr lang="en-US" sz="1000">
                <a:solidFill>
                  <a:srgbClr val="64748B"/>
                </a:solidFill>
                <a:latin typeface="Calibri"/>
                <a:ea typeface="Calibri"/>
                <a:cs typeface="Calibri"/>
              </a:rPr>
              <a:t>Encode→ Impute → Scale</a:t>
            </a:r>
            <a:endParaRPr lang="en-US" sz="1000" dirty="0">
              <a:latin typeface="Calibri"/>
              <a:ea typeface="Calibri"/>
              <a:cs typeface="Calibri"/>
            </a:endParaRPr>
          </a:p>
        </p:txBody>
      </p:sp>
      <p:sp>
        <p:nvSpPr>
          <p:cNvPr id="15" name="Shape 11"/>
          <p:cNvSpPr/>
          <p:nvPr/>
        </p:nvSpPr>
        <p:spPr>
          <a:xfrm>
            <a:off x="3840480" y="1553444"/>
            <a:ext cx="1371600" cy="1371600"/>
          </a:xfrm>
          <a:prstGeom prst="rect">
            <a:avLst/>
          </a:prstGeom>
          <a:solidFill>
            <a:srgbClr val="0D9488"/>
          </a:solidFill>
          <a:ln w="12700">
            <a:solidFill>
              <a:srgbClr val="0D948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297680" y="1663172"/>
            <a:ext cx="457200" cy="457200"/>
          </a:xfrm>
          <a:prstGeom prst="rect">
            <a:avLst/>
          </a:prstGeom>
        </p:spPr>
      </p:pic>
      <p:sp>
        <p:nvSpPr>
          <p:cNvPr id="17" name="Text 12"/>
          <p:cNvSpPr/>
          <p:nvPr/>
        </p:nvSpPr>
        <p:spPr>
          <a:xfrm>
            <a:off x="3840480" y="2147804"/>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Logistic</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Regression</a:t>
            </a:r>
            <a:endParaRPr lang="en-US" sz="1100" dirty="0"/>
          </a:p>
        </p:txBody>
      </p:sp>
      <p:sp>
        <p:nvSpPr>
          <p:cNvPr id="18" name="Text 13"/>
          <p:cNvSpPr/>
          <p:nvPr/>
        </p:nvSpPr>
        <p:spPr>
          <a:xfrm>
            <a:off x="5212080" y="1964924"/>
            <a:ext cx="365760" cy="548640"/>
          </a:xfrm>
          <a:prstGeom prst="rect">
            <a:avLst/>
          </a:prstGeom>
          <a:noFill/>
          <a:ln/>
        </p:spPr>
        <p:txBody>
          <a:bodyPr wrap="square" lIns="0" tIns="0" rIns="0" bIns="0" rtlCol="0" anchor="ctr"/>
          <a:lstStyle/>
          <a:p>
            <a:pPr marL="0" indent="0" algn="ctr">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9" name="Text 14"/>
          <p:cNvSpPr/>
          <p:nvPr/>
        </p:nvSpPr>
        <p:spPr>
          <a:xfrm>
            <a:off x="3840480" y="2943332"/>
            <a:ext cx="137160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Threshold = 0.45</a:t>
            </a:r>
            <a:endParaRPr lang="en-US" sz="1000" dirty="0"/>
          </a:p>
        </p:txBody>
      </p:sp>
      <p:sp>
        <p:nvSpPr>
          <p:cNvPr id="20" name="Shape 15"/>
          <p:cNvSpPr/>
          <p:nvPr/>
        </p:nvSpPr>
        <p:spPr>
          <a:xfrm>
            <a:off x="5577840" y="1553444"/>
            <a:ext cx="1371600" cy="1371600"/>
          </a:xfrm>
          <a:prstGeom prst="rect">
            <a:avLst/>
          </a:prstGeom>
          <a:solidFill>
            <a:srgbClr val="0A7568"/>
          </a:solidFill>
          <a:ln w="12700">
            <a:solidFill>
              <a:srgbClr val="0A756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035040" y="1663172"/>
            <a:ext cx="457200" cy="457200"/>
          </a:xfrm>
          <a:prstGeom prst="rect">
            <a:avLst/>
          </a:prstGeom>
        </p:spPr>
      </p:pic>
      <p:sp>
        <p:nvSpPr>
          <p:cNvPr id="22" name="Text 16"/>
          <p:cNvSpPr/>
          <p:nvPr/>
        </p:nvSpPr>
        <p:spPr>
          <a:xfrm>
            <a:off x="5577840" y="2147804"/>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SHAP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Explanation</a:t>
            </a:r>
            <a:endParaRPr lang="en-US" sz="1100" dirty="0"/>
          </a:p>
        </p:txBody>
      </p:sp>
      <p:sp>
        <p:nvSpPr>
          <p:cNvPr id="23" name="Text 17"/>
          <p:cNvSpPr/>
          <p:nvPr/>
        </p:nvSpPr>
        <p:spPr>
          <a:xfrm>
            <a:off x="6949440" y="1964924"/>
            <a:ext cx="365760" cy="548640"/>
          </a:xfrm>
          <a:prstGeom prst="rect">
            <a:avLst/>
          </a:prstGeom>
          <a:noFill/>
          <a:ln/>
        </p:spPr>
        <p:txBody>
          <a:bodyPr wrap="square" lIns="0" tIns="0" rIns="0" bIns="0" rtlCol="0" anchor="ctr"/>
          <a:lstStyle/>
          <a:p>
            <a:pPr marL="0" indent="0" algn="ctr">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24" name="Text 18"/>
          <p:cNvSpPr/>
          <p:nvPr/>
        </p:nvSpPr>
        <p:spPr>
          <a:xfrm>
            <a:off x="5577840" y="2943332"/>
            <a:ext cx="137160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Feature contributions</a:t>
            </a:r>
            <a:endParaRPr lang="en-US" sz="1000" dirty="0"/>
          </a:p>
        </p:txBody>
      </p:sp>
      <p:sp>
        <p:nvSpPr>
          <p:cNvPr id="25" name="Shape 19"/>
          <p:cNvSpPr/>
          <p:nvPr/>
        </p:nvSpPr>
        <p:spPr>
          <a:xfrm>
            <a:off x="7315200" y="1553444"/>
            <a:ext cx="1371600" cy="1371600"/>
          </a:xfrm>
          <a:prstGeom prst="rect">
            <a:avLst/>
          </a:prstGeom>
          <a:solidFill>
            <a:srgbClr val="10B981"/>
          </a:solidFill>
          <a:ln w="12700">
            <a:solidFill>
              <a:srgbClr val="10B981"/>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772400" y="1663172"/>
            <a:ext cx="457200" cy="457200"/>
          </a:xfrm>
          <a:prstGeom prst="rect">
            <a:avLst/>
          </a:prstGeom>
        </p:spPr>
      </p:pic>
      <p:sp>
        <p:nvSpPr>
          <p:cNvPr id="27" name="Text 20"/>
          <p:cNvSpPr/>
          <p:nvPr/>
        </p:nvSpPr>
        <p:spPr>
          <a:xfrm>
            <a:off x="7315200" y="2147804"/>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p:txBody>
      </p:sp>
      <p:sp>
        <p:nvSpPr>
          <p:cNvPr id="28" name="Text 21"/>
          <p:cNvSpPr/>
          <p:nvPr/>
        </p:nvSpPr>
        <p:spPr>
          <a:xfrm>
            <a:off x="7315200" y="2943332"/>
            <a:ext cx="1371600" cy="347472"/>
          </a:xfrm>
          <a:prstGeom prst="rect">
            <a:avLst/>
          </a:prstGeom>
          <a:noFill/>
          <a:ln/>
        </p:spPr>
        <p:txBody>
          <a:bodyPr wrap="square" lIns="0" tIns="0" rIns="0" bIns="0" rtlCol="0" anchor="ctr"/>
          <a:lstStyle/>
          <a:p>
            <a:pPr marL="0" indent="0" algn="ctr">
              <a:buNone/>
            </a:pPr>
            <a:r>
              <a:rPr lang="en-US" sz="1000">
                <a:solidFill>
                  <a:srgbClr val="64748B"/>
                </a:solidFill>
                <a:latin typeface="Calibri"/>
                <a:ea typeface="Calibri"/>
                <a:cs typeface="Calibri"/>
              </a:rPr>
              <a:t>At Risk/No Risk</a:t>
            </a:r>
            <a:endParaRPr lang="en-US" sz="1000">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34D0747-65CB-073A-6534-FE23BF137265}"/>
              </a:ext>
            </a:extLst>
          </p:cNvPr>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Prediction Workflow</a:t>
            </a:r>
            <a:endParaRPr lang="en-US" sz="2600" dirty="0"/>
          </a:p>
        </p:txBody>
      </p:sp>
      <p:sp>
        <p:nvSpPr>
          <p:cNvPr id="3" name="Text 1">
            <a:extLst>
              <a:ext uri="{FF2B5EF4-FFF2-40B4-BE49-F238E27FC236}">
                <a16:creationId xmlns:a16="http://schemas.microsoft.com/office/drawing/2014/main" id="{EC6238EA-9BE1-81C0-5175-114038802017}"/>
              </a:ext>
            </a:extLst>
          </p:cNvPr>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a:solidFill>
                  <a:srgbClr val="64748B"/>
                </a:solidFill>
                <a:latin typeface="Calibri"/>
                <a:ea typeface="Calibri"/>
                <a:cs typeface="Calibri"/>
              </a:rPr>
              <a:t>End-to-end: Raw patient data as input → Model output</a:t>
            </a:r>
            <a:endParaRPr lang="en-US" sz="1300">
              <a:latin typeface="Calibri"/>
              <a:ea typeface="Calibri"/>
              <a:cs typeface="Calibri"/>
            </a:endParaRPr>
          </a:p>
        </p:txBody>
      </p:sp>
      <p:sp>
        <p:nvSpPr>
          <p:cNvPr id="4" name="Shape 2">
            <a:extLst>
              <a:ext uri="{FF2B5EF4-FFF2-40B4-BE49-F238E27FC236}">
                <a16:creationId xmlns:a16="http://schemas.microsoft.com/office/drawing/2014/main" id="{27CADA6F-6ECF-9CF4-4B67-F1AC9A41E43B}"/>
              </a:ext>
            </a:extLst>
          </p:cNvPr>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sp>
        <p:nvSpPr>
          <p:cNvPr id="32" name="Text 24"/>
          <p:cNvSpPr/>
          <p:nvPr/>
        </p:nvSpPr>
        <p:spPr>
          <a:xfrm>
            <a:off x="4571442" y="1435120"/>
            <a:ext cx="3657600" cy="36336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Model Output</a:t>
            </a:r>
            <a:endParaRPr lang="en-US" sz="1300" dirty="0"/>
          </a:p>
        </p:txBody>
      </p:sp>
      <p:pic>
        <p:nvPicPr>
          <p:cNvPr id="1026" name="Picture 2">
            <a:extLst>
              <a:ext uri="{FF2B5EF4-FFF2-40B4-BE49-F238E27FC236}">
                <a16:creationId xmlns:a16="http://schemas.microsoft.com/office/drawing/2014/main" id="{5C211F79-01A1-33B7-7EA0-E64A4A09B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4778" y="1797579"/>
            <a:ext cx="4192502" cy="3166093"/>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AEAE9699-B27E-204E-E28C-6C602D4B1D9A}"/>
              </a:ext>
            </a:extLst>
          </p:cNvPr>
          <p:cNvSpPr txBox="1"/>
          <p:nvPr/>
        </p:nvSpPr>
        <p:spPr>
          <a:xfrm>
            <a:off x="487008" y="1988667"/>
            <a:ext cx="3407396" cy="2800767"/>
          </a:xfrm>
          <a:prstGeom prst="rect">
            <a:avLst/>
          </a:prstGeom>
          <a:noFill/>
        </p:spPr>
        <p:txBody>
          <a:bodyPr wrap="square" lIns="91440" tIns="45720" rIns="91440" bIns="45720" rtlCol="0" anchor="t">
            <a:spAutoFit/>
          </a:bodyPr>
          <a:lstStyle/>
          <a:p>
            <a:r>
              <a:rPr lang="en-US" sz="1100" dirty="0">
                <a:latin typeface="Calibri"/>
                <a:ea typeface="Calibri"/>
                <a:cs typeface="Calibri"/>
              </a:rPr>
              <a:t>#Test patient - Low risk profile</a:t>
            </a:r>
            <a:br>
              <a:rPr lang="en-US" sz="1100" dirty="0">
                <a:latin typeface="Calibri" pitchFamily="34" charset="0"/>
                <a:ea typeface="Calibri" pitchFamily="34" charset="-122"/>
                <a:cs typeface="Calibri" pitchFamily="34" charset="-120"/>
              </a:rPr>
            </a:br>
            <a:r>
              <a:rPr lang="en-US" sz="1100" dirty="0" err="1">
                <a:latin typeface="Calibri"/>
                <a:ea typeface="Calibri"/>
                <a:cs typeface="Calibri"/>
              </a:rPr>
              <a:t>low_risk_patient</a:t>
            </a:r>
            <a:r>
              <a:rPr lang="en-US" sz="1100" dirty="0">
                <a:latin typeface="Calibri"/>
                <a:ea typeface="Calibri"/>
                <a:cs typeface="Calibri"/>
              </a:rPr>
              <a:t> = {</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'age': 35,</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'sex': 'Female',</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'cp': 'typical angina',</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trestbps</a:t>
            </a:r>
            <a:r>
              <a:rPr lang="en-US" sz="1100" dirty="0">
                <a:latin typeface="Calibri"/>
                <a:ea typeface="Calibri"/>
                <a:cs typeface="Calibri"/>
              </a:rPr>
              <a:t>': 118,</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chol</a:t>
            </a:r>
            <a:r>
              <a:rPr lang="en-US" sz="1100" dirty="0">
                <a:latin typeface="Calibri"/>
                <a:ea typeface="Calibri"/>
                <a:cs typeface="Calibri"/>
              </a:rPr>
              <a:t>': 195,</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fbs</a:t>
            </a:r>
            <a:r>
              <a:rPr lang="en-US" sz="1100" dirty="0">
                <a:latin typeface="Calibri"/>
                <a:ea typeface="Calibri"/>
                <a:cs typeface="Calibri"/>
              </a:rPr>
              <a:t>': False,</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restecg</a:t>
            </a:r>
            <a:r>
              <a:rPr lang="en-US" sz="1100" dirty="0">
                <a:latin typeface="Calibri"/>
                <a:ea typeface="Calibri"/>
                <a:cs typeface="Calibri"/>
              </a:rPr>
              <a:t>': 'normal',</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thalch</a:t>
            </a:r>
            <a:r>
              <a:rPr lang="en-US" sz="1100" dirty="0">
                <a:latin typeface="Calibri"/>
                <a:ea typeface="Calibri"/>
                <a:cs typeface="Calibri"/>
              </a:rPr>
              <a:t>': 170,</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exang</a:t>
            </a:r>
            <a:r>
              <a:rPr lang="en-US" sz="1100" dirty="0">
                <a:latin typeface="Calibri"/>
                <a:ea typeface="Calibri"/>
                <a:cs typeface="Calibri"/>
              </a:rPr>
              <a:t>': False,</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oldpeak</a:t>
            </a:r>
            <a:r>
              <a:rPr lang="en-US" sz="1100" dirty="0">
                <a:latin typeface="Calibri"/>
                <a:ea typeface="Calibri"/>
                <a:cs typeface="Calibri"/>
              </a:rPr>
              <a:t>': 0.0,</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'slope': 'upsloping',</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'ca': 0.0,</a:t>
            </a:r>
            <a:br>
              <a:rPr lang="en-US" sz="1100" dirty="0">
                <a:latin typeface="Calibri" pitchFamily="34" charset="0"/>
                <a:ea typeface="Calibri" pitchFamily="34" charset="-122"/>
                <a:cs typeface="Calibri" pitchFamily="34" charset="-120"/>
              </a:rPr>
            </a:br>
            <a:r>
              <a:rPr lang="en-US" sz="1100" dirty="0">
                <a:latin typeface="Calibri"/>
                <a:ea typeface="Calibri"/>
                <a:cs typeface="Calibri"/>
              </a:rPr>
              <a:t>    '</a:t>
            </a:r>
            <a:r>
              <a:rPr lang="en-US" sz="1100" dirty="0" err="1">
                <a:latin typeface="Calibri"/>
                <a:ea typeface="Calibri"/>
                <a:cs typeface="Calibri"/>
              </a:rPr>
              <a:t>thal</a:t>
            </a:r>
            <a:r>
              <a:rPr lang="en-US" sz="1100" dirty="0">
                <a:latin typeface="Calibri"/>
                <a:ea typeface="Calibri"/>
                <a:cs typeface="Calibri"/>
              </a:rPr>
              <a:t>': 'normal’</a:t>
            </a:r>
          </a:p>
          <a:p>
            <a:r>
              <a:rPr lang="en-US" sz="1100" dirty="0">
                <a:latin typeface="Calibri" pitchFamily="34" charset="0"/>
                <a:ea typeface="Calibri" pitchFamily="34" charset="-122"/>
                <a:cs typeface="Calibri" pitchFamily="34" charset="-120"/>
              </a:rPr>
              <a:t>}</a:t>
            </a:r>
            <a:endParaRPr lang="en-US" sz="1100" dirty="0"/>
          </a:p>
        </p:txBody>
      </p:sp>
      <p:sp>
        <p:nvSpPr>
          <p:cNvPr id="29" name="Text 22"/>
          <p:cNvSpPr/>
          <p:nvPr/>
        </p:nvSpPr>
        <p:spPr>
          <a:xfrm>
            <a:off x="487008" y="1435120"/>
            <a:ext cx="3657600" cy="363367"/>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Example Patient Input</a:t>
            </a:r>
            <a:endParaRPr lang="en-US" sz="1300" dirty="0"/>
          </a:p>
        </p:txBody>
      </p:sp>
    </p:spTree>
    <p:extLst>
      <p:ext uri="{BB962C8B-B14F-4D97-AF65-F5344CB8AC3E}">
        <p14:creationId xmlns:p14="http://schemas.microsoft.com/office/powerpoint/2010/main" val="3820520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Future Enhancements</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How can we make the system more accurate and useful?</a:t>
            </a:r>
            <a:endParaRPr lang="en-US" sz="1300" dirty="0"/>
          </a:p>
        </p:txBody>
      </p:sp>
      <p:sp>
        <p:nvSpPr>
          <p:cNvPr id="4" name="Shape 2"/>
          <p:cNvSpPr/>
          <p:nvPr/>
        </p:nvSpPr>
        <p:spPr>
          <a:xfrm>
            <a:off x="457200" y="1051560"/>
            <a:ext cx="8229600" cy="27432"/>
          </a:xfrm>
          <a:prstGeom prst="rect">
            <a:avLst/>
          </a:prstGeom>
          <a:solidFill>
            <a:srgbClr val="0D9488"/>
          </a:solidFill>
          <a:ln w="12700">
            <a:solidFill>
              <a:srgbClr val="0D9488"/>
            </a:solidFill>
            <a:prstDash val="solid"/>
          </a:ln>
        </p:spPr>
        <p:txBody>
          <a:bodyPr/>
          <a:lstStyle/>
          <a:p>
            <a:endParaRPr lang="en-US"/>
          </a:p>
        </p:txBody>
      </p:sp>
      <p:sp>
        <p:nvSpPr>
          <p:cNvPr id="5" name="Shape 3"/>
          <p:cNvSpPr/>
          <p:nvPr/>
        </p:nvSpPr>
        <p:spPr>
          <a:xfrm>
            <a:off x="365760" y="12344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65760" y="1234440"/>
            <a:ext cx="64008" cy="1691640"/>
          </a:xfrm>
          <a:prstGeom prst="rect">
            <a:avLst/>
          </a:prstGeom>
          <a:solidFill>
            <a:srgbClr val="1B2A4A"/>
          </a:solidFill>
          <a:ln w="12700">
            <a:solidFill>
              <a:srgbClr val="1B2A4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30352" y="1399032"/>
            <a:ext cx="347472" cy="347472"/>
          </a:xfrm>
          <a:prstGeom prst="rect">
            <a:avLst/>
          </a:prstGeom>
        </p:spPr>
      </p:pic>
      <p:sp>
        <p:nvSpPr>
          <p:cNvPr id="8" name="Text 5"/>
          <p:cNvSpPr/>
          <p:nvPr/>
        </p:nvSpPr>
        <p:spPr>
          <a:xfrm>
            <a:off x="932688" y="137160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Larger &amp; Diverse Data</a:t>
            </a:r>
            <a:endParaRPr lang="en-US" sz="1200" dirty="0"/>
          </a:p>
        </p:txBody>
      </p:sp>
      <p:sp>
        <p:nvSpPr>
          <p:cNvPr id="9" name="Text 6"/>
          <p:cNvSpPr/>
          <p:nvPr/>
        </p:nvSpPr>
        <p:spPr>
          <a:xfrm>
            <a:off x="530352" y="1801368"/>
            <a:ext cx="2331720" cy="10058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Train on multi-hospital, multi-country datasets to reduce regional bias and improve generalization across demographics.</a:t>
            </a:r>
            <a:endParaRPr lang="en-US" sz="1050" dirty="0"/>
          </a:p>
        </p:txBody>
      </p:sp>
      <p:sp>
        <p:nvSpPr>
          <p:cNvPr id="10" name="Shape 7"/>
          <p:cNvSpPr/>
          <p:nvPr/>
        </p:nvSpPr>
        <p:spPr>
          <a:xfrm>
            <a:off x="3200400" y="12344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1" name="Shape 8"/>
          <p:cNvSpPr/>
          <p:nvPr/>
        </p:nvSpPr>
        <p:spPr>
          <a:xfrm>
            <a:off x="3200400" y="1234440"/>
            <a:ext cx="64008" cy="1691640"/>
          </a:xfrm>
          <a:prstGeom prst="rect">
            <a:avLst/>
          </a:prstGeom>
          <a:solidFill>
            <a:srgbClr val="0D9488"/>
          </a:solidFill>
          <a:ln w="12700">
            <a:solidFill>
              <a:srgbClr val="0D948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364992" y="1399032"/>
            <a:ext cx="347472" cy="347472"/>
          </a:xfrm>
          <a:prstGeom prst="rect">
            <a:avLst/>
          </a:prstGeom>
        </p:spPr>
      </p:pic>
      <p:sp>
        <p:nvSpPr>
          <p:cNvPr id="13" name="Text 9"/>
          <p:cNvSpPr/>
          <p:nvPr/>
        </p:nvSpPr>
        <p:spPr>
          <a:xfrm>
            <a:off x="3767328" y="137160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Advanced Feature Engineering</a:t>
            </a:r>
            <a:endParaRPr lang="en-US" sz="1200" dirty="0"/>
          </a:p>
        </p:txBody>
      </p:sp>
      <p:sp>
        <p:nvSpPr>
          <p:cNvPr id="14" name="Text 10"/>
          <p:cNvSpPr/>
          <p:nvPr/>
        </p:nvSpPr>
        <p:spPr>
          <a:xfrm>
            <a:off x="3364992" y="1801368"/>
            <a:ext cx="2331720" cy="10058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Add derived features like pulse pressure, cholesterol ratios, and interaction terms between age and exercise variables.</a:t>
            </a:r>
            <a:endParaRPr lang="en-US" sz="1050" dirty="0"/>
          </a:p>
        </p:txBody>
      </p:sp>
      <p:sp>
        <p:nvSpPr>
          <p:cNvPr id="15" name="Shape 11"/>
          <p:cNvSpPr/>
          <p:nvPr/>
        </p:nvSpPr>
        <p:spPr>
          <a:xfrm>
            <a:off x="6035040" y="12344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6" name="Shape 12"/>
          <p:cNvSpPr/>
          <p:nvPr/>
        </p:nvSpPr>
        <p:spPr>
          <a:xfrm>
            <a:off x="6035040" y="1234440"/>
            <a:ext cx="64008" cy="1691640"/>
          </a:xfrm>
          <a:prstGeom prst="rect">
            <a:avLst/>
          </a:prstGeom>
          <a:solidFill>
            <a:srgbClr val="1B2A4A"/>
          </a:solidFill>
          <a:ln w="12700">
            <a:solidFill>
              <a:srgbClr val="1B2A4A"/>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199632" y="1399032"/>
            <a:ext cx="347472" cy="347472"/>
          </a:xfrm>
          <a:prstGeom prst="rect">
            <a:avLst/>
          </a:prstGeom>
        </p:spPr>
      </p:pic>
      <p:sp>
        <p:nvSpPr>
          <p:cNvPr id="18" name="Text 13"/>
          <p:cNvSpPr/>
          <p:nvPr/>
        </p:nvSpPr>
        <p:spPr>
          <a:xfrm>
            <a:off x="6601968" y="137160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Ensemble &amp; Deep Learning</a:t>
            </a:r>
            <a:endParaRPr lang="en-US" sz="1200" dirty="0"/>
          </a:p>
        </p:txBody>
      </p:sp>
      <p:sp>
        <p:nvSpPr>
          <p:cNvPr id="19" name="Text 14"/>
          <p:cNvSpPr/>
          <p:nvPr/>
        </p:nvSpPr>
        <p:spPr>
          <a:xfrm>
            <a:off x="6199632" y="1801368"/>
            <a:ext cx="2331720" cy="1005840"/>
          </a:xfrm>
          <a:prstGeom prst="rect">
            <a:avLst/>
          </a:prstGeom>
          <a:noFill/>
          <a:ln/>
        </p:spPr>
        <p:txBody>
          <a:bodyPr wrap="square" lIns="0" tIns="0" rIns="0" bIns="0" rtlCol="0" anchor="ctr"/>
          <a:lstStyle/>
          <a:p>
            <a:pPr marL="0" indent="0">
              <a:buNone/>
            </a:pPr>
            <a:r>
              <a:rPr lang="en-US" sz="1050" dirty="0">
                <a:solidFill>
                  <a:srgbClr val="64748B"/>
                </a:solidFill>
                <a:latin typeface="Calibri"/>
                <a:ea typeface="Calibri"/>
                <a:cs typeface="Calibri"/>
              </a:rPr>
              <a:t>Combine multiple models via stacking or explore neural networks on richer datasets (</a:t>
            </a:r>
            <a:r>
              <a:rPr lang="en-US" sz="1050">
                <a:solidFill>
                  <a:srgbClr val="64748B"/>
                </a:solidFill>
                <a:latin typeface="Calibri"/>
                <a:ea typeface="Calibri"/>
                <a:cs typeface="Calibri"/>
              </a:rPr>
              <a:t>e.g.,</a:t>
            </a:r>
            <a:r>
              <a:rPr lang="en-US" sz="1050" dirty="0">
                <a:solidFill>
                  <a:srgbClr val="64748B"/>
                </a:solidFill>
                <a:latin typeface="Calibri"/>
                <a:ea typeface="Calibri"/>
                <a:cs typeface="Calibri"/>
              </a:rPr>
              <a:t> ECG time-series data).</a:t>
            </a:r>
            <a:endParaRPr lang="en-US" sz="1050" dirty="0">
              <a:latin typeface="Calibri"/>
              <a:ea typeface="Calibri"/>
              <a:cs typeface="Calibri"/>
            </a:endParaRPr>
          </a:p>
        </p:txBody>
      </p:sp>
      <p:sp>
        <p:nvSpPr>
          <p:cNvPr id="20" name="Shape 15"/>
          <p:cNvSpPr/>
          <p:nvPr/>
        </p:nvSpPr>
        <p:spPr>
          <a:xfrm>
            <a:off x="365760" y="310896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21" name="Shape 16"/>
          <p:cNvSpPr/>
          <p:nvPr/>
        </p:nvSpPr>
        <p:spPr>
          <a:xfrm>
            <a:off x="365760" y="3108960"/>
            <a:ext cx="64008" cy="1691640"/>
          </a:xfrm>
          <a:prstGeom prst="rect">
            <a:avLst/>
          </a:prstGeom>
          <a:solidFill>
            <a:srgbClr val="0D9488"/>
          </a:solidFill>
          <a:ln w="12700">
            <a:solidFill>
              <a:srgbClr val="0D9488"/>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30352" y="3273552"/>
            <a:ext cx="347472" cy="347472"/>
          </a:xfrm>
          <a:prstGeom prst="rect">
            <a:avLst/>
          </a:prstGeom>
        </p:spPr>
      </p:pic>
      <p:sp>
        <p:nvSpPr>
          <p:cNvPr id="23" name="Text 17"/>
          <p:cNvSpPr/>
          <p:nvPr/>
        </p:nvSpPr>
        <p:spPr>
          <a:xfrm>
            <a:off x="932688" y="324612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Automated Hyperparameter Tuning</a:t>
            </a:r>
            <a:endParaRPr lang="en-US" sz="1200" dirty="0"/>
          </a:p>
        </p:txBody>
      </p:sp>
      <p:sp>
        <p:nvSpPr>
          <p:cNvPr id="24" name="Text 18"/>
          <p:cNvSpPr/>
          <p:nvPr/>
        </p:nvSpPr>
        <p:spPr>
          <a:xfrm>
            <a:off x="530352" y="3675888"/>
            <a:ext cx="2331720" cy="1005840"/>
          </a:xfrm>
          <a:prstGeom prst="rect">
            <a:avLst/>
          </a:prstGeom>
          <a:noFill/>
          <a:ln/>
        </p:spPr>
        <p:txBody>
          <a:bodyPr wrap="square" lIns="0" tIns="0" rIns="0" bIns="0" rtlCol="0" anchor="ctr"/>
          <a:lstStyle/>
          <a:p>
            <a:r>
              <a:rPr lang="en-US" sz="1050" dirty="0">
                <a:solidFill>
                  <a:srgbClr val="64748B"/>
                </a:solidFill>
                <a:ea typeface="+mn-lt"/>
                <a:cs typeface="+mn-lt"/>
              </a:rPr>
              <a:t>Hyperparameter tuning was applied using </a:t>
            </a:r>
            <a:r>
              <a:rPr lang="en-US" sz="1050" dirty="0" err="1">
                <a:solidFill>
                  <a:srgbClr val="64748B"/>
                </a:solidFill>
                <a:ea typeface="+mn-lt"/>
                <a:cs typeface="+mn-lt"/>
              </a:rPr>
              <a:t>GridSearchCV</a:t>
            </a:r>
            <a:r>
              <a:rPr lang="en-US" sz="1050" dirty="0">
                <a:solidFill>
                  <a:srgbClr val="64748B"/>
                </a:solidFill>
                <a:ea typeface="+mn-lt"/>
                <a:cs typeface="+mn-lt"/>
              </a:rPr>
              <a:t>. Future work could extend this with Bayesian optimization for more efficient search and automate decision threshold selection across all models simultaneously.</a:t>
            </a:r>
            <a:endParaRPr lang="en-US" dirty="0">
              <a:ea typeface="+mn-lt"/>
              <a:cs typeface="+mn-lt"/>
            </a:endParaRPr>
          </a:p>
        </p:txBody>
      </p:sp>
      <p:sp>
        <p:nvSpPr>
          <p:cNvPr id="25" name="Shape 19"/>
          <p:cNvSpPr/>
          <p:nvPr/>
        </p:nvSpPr>
        <p:spPr>
          <a:xfrm>
            <a:off x="3200400" y="310896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26" name="Shape 20"/>
          <p:cNvSpPr/>
          <p:nvPr/>
        </p:nvSpPr>
        <p:spPr>
          <a:xfrm>
            <a:off x="3200400" y="3108960"/>
            <a:ext cx="64008" cy="1691640"/>
          </a:xfrm>
          <a:prstGeom prst="rect">
            <a:avLst/>
          </a:prstGeom>
          <a:solidFill>
            <a:srgbClr val="1B2A4A"/>
          </a:solidFill>
          <a:ln w="12700">
            <a:solidFill>
              <a:srgbClr val="1B2A4A"/>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364992" y="3273552"/>
            <a:ext cx="347472" cy="347472"/>
          </a:xfrm>
          <a:prstGeom prst="rect">
            <a:avLst/>
          </a:prstGeom>
        </p:spPr>
      </p:pic>
      <p:sp>
        <p:nvSpPr>
          <p:cNvPr id="28" name="Text 21"/>
          <p:cNvSpPr/>
          <p:nvPr/>
        </p:nvSpPr>
        <p:spPr>
          <a:xfrm>
            <a:off x="3767328" y="324612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Real-Time Risk Monitoring</a:t>
            </a:r>
            <a:endParaRPr lang="en-US" sz="1200" dirty="0"/>
          </a:p>
        </p:txBody>
      </p:sp>
      <p:sp>
        <p:nvSpPr>
          <p:cNvPr id="29" name="Text 22"/>
          <p:cNvSpPr/>
          <p:nvPr/>
        </p:nvSpPr>
        <p:spPr>
          <a:xfrm>
            <a:off x="3364992" y="3675888"/>
            <a:ext cx="2331720" cy="10058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Integrate with wearable devices (heart rate, SpO2) to produce continuous, updated risk scores rather than one-time predictions.</a:t>
            </a:r>
            <a:endParaRPr lang="en-US" sz="1050" dirty="0"/>
          </a:p>
        </p:txBody>
      </p:sp>
      <p:sp>
        <p:nvSpPr>
          <p:cNvPr id="30" name="Shape 23"/>
          <p:cNvSpPr/>
          <p:nvPr/>
        </p:nvSpPr>
        <p:spPr>
          <a:xfrm>
            <a:off x="6035040" y="310896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31" name="Shape 24"/>
          <p:cNvSpPr/>
          <p:nvPr/>
        </p:nvSpPr>
        <p:spPr>
          <a:xfrm>
            <a:off x="6035040" y="3108960"/>
            <a:ext cx="64008" cy="1691640"/>
          </a:xfrm>
          <a:prstGeom prst="rect">
            <a:avLst/>
          </a:prstGeom>
          <a:solidFill>
            <a:srgbClr val="0D9488"/>
          </a:solidFill>
          <a:ln w="12700">
            <a:solidFill>
              <a:srgbClr val="0D9488"/>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199632" y="3273552"/>
            <a:ext cx="347472" cy="347472"/>
          </a:xfrm>
          <a:prstGeom prst="rect">
            <a:avLst/>
          </a:prstGeom>
        </p:spPr>
      </p:pic>
      <p:sp>
        <p:nvSpPr>
          <p:cNvPr id="33" name="Text 25"/>
          <p:cNvSpPr/>
          <p:nvPr/>
        </p:nvSpPr>
        <p:spPr>
          <a:xfrm>
            <a:off x="6601968" y="3246120"/>
            <a:ext cx="1920240" cy="34747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Extend to Other Disease</a:t>
            </a:r>
            <a:endParaRPr lang="en-US" sz="1200" dirty="0"/>
          </a:p>
        </p:txBody>
      </p:sp>
      <p:sp>
        <p:nvSpPr>
          <p:cNvPr id="34" name="Text 26"/>
          <p:cNvSpPr/>
          <p:nvPr/>
        </p:nvSpPr>
        <p:spPr>
          <a:xfrm>
            <a:off x="6199632" y="3675888"/>
            <a:ext cx="2331720" cy="1005840"/>
          </a:xfrm>
          <a:prstGeom prst="rect">
            <a:avLst/>
          </a:prstGeom>
          <a:noFill/>
          <a:ln/>
        </p:spPr>
        <p:txBody>
          <a:bodyPr wrap="square" lIns="0" tIns="0" rIns="0" bIns="0" rtlCol="0" anchor="ctr"/>
          <a:lstStyle/>
          <a:p>
            <a:r>
              <a:rPr lang="en-US" sz="1050" dirty="0">
                <a:solidFill>
                  <a:srgbClr val="64748B"/>
                </a:solidFill>
                <a:latin typeface="Calibri"/>
                <a:ea typeface="Calibri"/>
                <a:cs typeface="Calibri"/>
              </a:rPr>
              <a:t>The preprocessing - training</a:t>
            </a:r>
            <a:r>
              <a:rPr lang="en-US" sz="1050" dirty="0">
                <a:solidFill>
                  <a:srgbClr val="64748B"/>
                </a:solidFill>
                <a:ea typeface="Calibri"/>
                <a:cs typeface="Calibri"/>
              </a:rPr>
              <a:t> - </a:t>
            </a:r>
            <a:r>
              <a:rPr lang="en-US" sz="1050" dirty="0">
                <a:solidFill>
                  <a:srgbClr val="64748B"/>
                </a:solidFill>
                <a:latin typeface="Calibri"/>
                <a:ea typeface="Calibri"/>
                <a:cs typeface="Calibri"/>
              </a:rPr>
              <a:t>SHAP pipeline is disease agnostic. Swap in any other disease dataset, retrain, deploy the same architecture, and make predictions.</a:t>
            </a:r>
            <a:endParaRPr lang="en-US" sz="1050" dirty="0">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Shape 1"/>
          <p:cNvSpPr/>
          <p:nvPr/>
        </p:nvSpPr>
        <p:spPr>
          <a:xfrm>
            <a:off x="457200" y="914400"/>
            <a:ext cx="2474176" cy="59659"/>
          </a:xfrm>
          <a:prstGeom prst="rect">
            <a:avLst/>
          </a:prstGeom>
          <a:solidFill>
            <a:srgbClr val="0D9488"/>
          </a:solidFill>
          <a:ln w="12700">
            <a:solidFill>
              <a:srgbClr val="0D9488"/>
            </a:solidFill>
            <a:prstDash val="solid"/>
          </a:ln>
        </p:spPr>
        <p:txBody>
          <a:bodyPr/>
          <a:lstStyle/>
          <a:p>
            <a:endParaRPr lang="en-US"/>
          </a:p>
        </p:txBody>
      </p:sp>
      <p:sp>
        <p:nvSpPr>
          <p:cNvPr id="4" name="Shape 2"/>
          <p:cNvSpPr/>
          <p:nvPr/>
        </p:nvSpPr>
        <p:spPr>
          <a:xfrm>
            <a:off x="457200" y="1188720"/>
            <a:ext cx="4023360" cy="1600200"/>
          </a:xfrm>
          <a:prstGeom prst="rect">
            <a:avLst/>
          </a:prstGeom>
          <a:solidFill>
            <a:srgbClr val="243554"/>
          </a:solidFill>
          <a:ln w="12700">
            <a:solidFill>
              <a:srgbClr val="334D6E"/>
            </a:solidFill>
            <a:prstDash val="solid"/>
          </a:ln>
        </p:spPr>
        <p:txBody>
          <a:bodyPr/>
          <a:lstStyle/>
          <a:p>
            <a:endParaRPr lang="en-US"/>
          </a:p>
        </p:txBody>
      </p:sp>
      <p:sp>
        <p:nvSpPr>
          <p:cNvPr id="5" name="Text 3"/>
          <p:cNvSpPr/>
          <p:nvPr/>
        </p:nvSpPr>
        <p:spPr>
          <a:xfrm>
            <a:off x="621792" y="1316736"/>
            <a:ext cx="502920" cy="50292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170432" y="1325880"/>
            <a:ext cx="31546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Simple beats complex</a:t>
            </a:r>
            <a:endParaRPr lang="en-US" sz="1400" dirty="0"/>
          </a:p>
        </p:txBody>
      </p:sp>
      <p:sp>
        <p:nvSpPr>
          <p:cNvPr id="7" name="Text 5"/>
          <p:cNvSpPr/>
          <p:nvPr/>
        </p:nvSpPr>
        <p:spPr>
          <a:xfrm>
            <a:off x="1170432" y="1737360"/>
            <a:ext cx="3154680" cy="914400"/>
          </a:xfrm>
          <a:prstGeom prst="rect">
            <a:avLst/>
          </a:prstGeom>
          <a:noFill/>
          <a:ln/>
        </p:spPr>
        <p:txBody>
          <a:bodyPr wrap="square" lIns="0" tIns="0" rIns="0" bIns="0" rtlCol="0" anchor="ctr"/>
          <a:lstStyle/>
          <a:p>
            <a:pPr marL="0" indent="0">
              <a:buNone/>
            </a:pPr>
            <a:r>
              <a:rPr lang="en-US" sz="1100" dirty="0">
                <a:solidFill>
                  <a:srgbClr val="94A3B8"/>
                </a:solidFill>
                <a:latin typeface="Calibri"/>
                <a:ea typeface="Calibri"/>
                <a:cs typeface="Calibri"/>
              </a:rPr>
              <a:t>Logistic Regression outperformed Random Forest &amp; </a:t>
            </a:r>
            <a:r>
              <a:rPr lang="en-US" sz="1100">
                <a:solidFill>
                  <a:srgbClr val="94A3B8"/>
                </a:solidFill>
                <a:latin typeface="Calibri"/>
                <a:ea typeface="Calibri"/>
                <a:cs typeface="Calibri"/>
              </a:rPr>
              <a:t>Gradient Boosting on recall - the metric that matters </a:t>
            </a:r>
            <a:r>
              <a:rPr lang="en-US" sz="1100" dirty="0">
                <a:solidFill>
                  <a:srgbClr val="94A3B8"/>
                </a:solidFill>
                <a:latin typeface="Calibri"/>
                <a:ea typeface="Calibri"/>
                <a:cs typeface="Calibri"/>
              </a:rPr>
              <a:t>most for medical screening.</a:t>
            </a:r>
            <a:endParaRPr lang="en-US" sz="1100" dirty="0">
              <a:latin typeface="Calibri"/>
              <a:ea typeface="Calibri"/>
              <a:cs typeface="Calibri"/>
            </a:endParaRPr>
          </a:p>
        </p:txBody>
      </p:sp>
      <p:sp>
        <p:nvSpPr>
          <p:cNvPr id="8" name="Shape 6"/>
          <p:cNvSpPr/>
          <p:nvPr/>
        </p:nvSpPr>
        <p:spPr>
          <a:xfrm>
            <a:off x="4846320" y="1188720"/>
            <a:ext cx="4023360" cy="1600200"/>
          </a:xfrm>
          <a:prstGeom prst="rect">
            <a:avLst/>
          </a:prstGeom>
          <a:solidFill>
            <a:srgbClr val="243554"/>
          </a:solidFill>
          <a:ln w="12700">
            <a:solidFill>
              <a:srgbClr val="334D6E"/>
            </a:solidFill>
            <a:prstDash val="solid"/>
          </a:ln>
        </p:spPr>
        <p:txBody>
          <a:bodyPr/>
          <a:lstStyle/>
          <a:p>
            <a:endParaRPr lang="en-US"/>
          </a:p>
        </p:txBody>
      </p:sp>
      <p:sp>
        <p:nvSpPr>
          <p:cNvPr id="9" name="Text 7"/>
          <p:cNvSpPr/>
          <p:nvPr/>
        </p:nvSpPr>
        <p:spPr>
          <a:xfrm>
            <a:off x="5010912" y="1316736"/>
            <a:ext cx="502920" cy="50292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5559552" y="1325880"/>
            <a:ext cx="31546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quality is everything</a:t>
            </a:r>
            <a:endParaRPr lang="en-US" sz="1400" dirty="0"/>
          </a:p>
        </p:txBody>
      </p:sp>
      <p:sp>
        <p:nvSpPr>
          <p:cNvPr id="11" name="Text 9"/>
          <p:cNvSpPr/>
          <p:nvPr/>
        </p:nvSpPr>
        <p:spPr>
          <a:xfrm>
            <a:off x="5559552" y="1737360"/>
            <a:ext cx="3154680" cy="914400"/>
          </a:xfrm>
          <a:prstGeom prst="rect">
            <a:avLst/>
          </a:prstGeom>
          <a:noFill/>
          <a:ln/>
        </p:spPr>
        <p:txBody>
          <a:bodyPr wrap="square" lIns="0" tIns="0" rIns="0" bIns="0" rtlCol="0" anchor="ctr"/>
          <a:lstStyle/>
          <a:p>
            <a:pPr marL="0" indent="0">
              <a:buNone/>
            </a:pPr>
            <a:r>
              <a:rPr lang="en-US" sz="1100">
                <a:solidFill>
                  <a:srgbClr val="94A3B8"/>
                </a:solidFill>
                <a:latin typeface="Calibri"/>
                <a:ea typeface="Calibri"/>
                <a:cs typeface="Calibri"/>
              </a:rPr>
              <a:t>Two features with 50-66% missing values were saved </a:t>
            </a:r>
            <a:r>
              <a:rPr lang="en-US" sz="1100" dirty="0">
                <a:solidFill>
                  <a:srgbClr val="94A3B8"/>
                </a:solidFill>
                <a:latin typeface="Calibri"/>
                <a:ea typeface="Calibri"/>
                <a:cs typeface="Calibri"/>
              </a:rPr>
              <a:t>using missing indicators + KNN imputation, preserving clinically critical signals.</a:t>
            </a:r>
            <a:endParaRPr lang="en-US" sz="1100" dirty="0">
              <a:latin typeface="Calibri"/>
              <a:ea typeface="Calibri"/>
              <a:cs typeface="Calibri"/>
            </a:endParaRPr>
          </a:p>
        </p:txBody>
      </p:sp>
      <p:sp>
        <p:nvSpPr>
          <p:cNvPr id="12" name="Shape 10"/>
          <p:cNvSpPr/>
          <p:nvPr/>
        </p:nvSpPr>
        <p:spPr>
          <a:xfrm>
            <a:off x="457200" y="3017520"/>
            <a:ext cx="4023360" cy="1600200"/>
          </a:xfrm>
          <a:prstGeom prst="rect">
            <a:avLst/>
          </a:prstGeom>
          <a:solidFill>
            <a:srgbClr val="243554"/>
          </a:solidFill>
          <a:ln w="12700">
            <a:solidFill>
              <a:srgbClr val="334D6E"/>
            </a:solidFill>
            <a:prstDash val="solid"/>
          </a:ln>
        </p:spPr>
        <p:txBody>
          <a:bodyPr/>
          <a:lstStyle/>
          <a:p>
            <a:endParaRPr lang="en-US"/>
          </a:p>
        </p:txBody>
      </p:sp>
      <p:sp>
        <p:nvSpPr>
          <p:cNvPr id="13" name="Text 11"/>
          <p:cNvSpPr/>
          <p:nvPr/>
        </p:nvSpPr>
        <p:spPr>
          <a:xfrm>
            <a:off x="621792" y="3145536"/>
            <a:ext cx="502920" cy="50292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170432" y="3154680"/>
            <a:ext cx="31546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Explainability builds trust</a:t>
            </a:r>
            <a:endParaRPr lang="en-US" sz="1400" dirty="0"/>
          </a:p>
        </p:txBody>
      </p:sp>
      <p:sp>
        <p:nvSpPr>
          <p:cNvPr id="15" name="Text 13"/>
          <p:cNvSpPr/>
          <p:nvPr/>
        </p:nvSpPr>
        <p:spPr>
          <a:xfrm>
            <a:off x="1170432" y="3566160"/>
            <a:ext cx="3154680" cy="914400"/>
          </a:xfrm>
          <a:prstGeom prst="rect">
            <a:avLst/>
          </a:prstGeom>
          <a:noFill/>
          <a:ln/>
        </p:spPr>
        <p:txBody>
          <a:bodyPr wrap="square" lIns="0" tIns="0" rIns="0" bIns="0" rtlCol="0" anchor="ctr"/>
          <a:lstStyle/>
          <a:p>
            <a:r>
              <a:rPr lang="en-US" sz="1100" dirty="0">
                <a:solidFill>
                  <a:srgbClr val="94A3B8"/>
                </a:solidFill>
                <a:latin typeface="Calibri"/>
                <a:ea typeface="Calibri"/>
                <a:cs typeface="Calibri"/>
              </a:rPr>
              <a:t>SHAP transforms the model from a black box into a clinical tool, surfacing chest pain type, </a:t>
            </a:r>
            <a:r>
              <a:rPr lang="en-US" sz="1100" dirty="0">
                <a:solidFill>
                  <a:srgbClr val="94A3B8"/>
                </a:solidFill>
                <a:ea typeface="+mn-lt"/>
                <a:cs typeface="+mn-lt"/>
              </a:rPr>
              <a:t>ST Depression</a:t>
            </a:r>
            <a:r>
              <a:rPr lang="en-US" sz="1100">
                <a:solidFill>
                  <a:srgbClr val="94A3B8"/>
                </a:solidFill>
                <a:latin typeface="Calibri"/>
                <a:ea typeface="Calibri"/>
                <a:cs typeface="Calibri"/>
              </a:rPr>
              <a:t>, and </a:t>
            </a:r>
            <a:r>
              <a:rPr lang="en-US" sz="1100">
                <a:solidFill>
                  <a:srgbClr val="94A3B8"/>
                </a:solidFill>
                <a:ea typeface="+mn-lt"/>
                <a:cs typeface="+mn-lt"/>
              </a:rPr>
              <a:t>Exercise Angina</a:t>
            </a:r>
            <a:r>
              <a:rPr lang="en-US" sz="1100" dirty="0">
                <a:solidFill>
                  <a:srgbClr val="94A3B8"/>
                </a:solidFill>
                <a:latin typeface="Calibri"/>
                <a:ea typeface="Calibri"/>
                <a:cs typeface="Calibri"/>
              </a:rPr>
              <a:t> as top drivers.</a:t>
            </a:r>
            <a:endParaRPr lang="en-US" sz="1100" dirty="0">
              <a:latin typeface="Calibri"/>
              <a:ea typeface="Calibri"/>
              <a:cs typeface="Calibri"/>
            </a:endParaRPr>
          </a:p>
        </p:txBody>
      </p:sp>
      <p:sp>
        <p:nvSpPr>
          <p:cNvPr id="16" name="Shape 14"/>
          <p:cNvSpPr/>
          <p:nvPr/>
        </p:nvSpPr>
        <p:spPr>
          <a:xfrm>
            <a:off x="4846320" y="3017520"/>
            <a:ext cx="4023360" cy="1600200"/>
          </a:xfrm>
          <a:prstGeom prst="rect">
            <a:avLst/>
          </a:prstGeom>
          <a:solidFill>
            <a:srgbClr val="243554"/>
          </a:solidFill>
          <a:ln w="12700">
            <a:solidFill>
              <a:srgbClr val="334D6E"/>
            </a:solidFill>
            <a:prstDash val="solid"/>
          </a:ln>
        </p:spPr>
        <p:txBody>
          <a:bodyPr/>
          <a:lstStyle/>
          <a:p>
            <a:endParaRPr lang="en-US"/>
          </a:p>
        </p:txBody>
      </p:sp>
      <p:sp>
        <p:nvSpPr>
          <p:cNvPr id="17" name="Text 15"/>
          <p:cNvSpPr/>
          <p:nvPr/>
        </p:nvSpPr>
        <p:spPr>
          <a:xfrm>
            <a:off x="5010912" y="3145536"/>
            <a:ext cx="502920" cy="50292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5559552" y="3154680"/>
            <a:ext cx="31546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Threshold matters</a:t>
            </a:r>
            <a:endParaRPr lang="en-US" sz="1400" dirty="0"/>
          </a:p>
        </p:txBody>
      </p:sp>
      <p:sp>
        <p:nvSpPr>
          <p:cNvPr id="19" name="Text 17"/>
          <p:cNvSpPr/>
          <p:nvPr/>
        </p:nvSpPr>
        <p:spPr>
          <a:xfrm>
            <a:off x="5559552" y="3566160"/>
            <a:ext cx="3154680" cy="914400"/>
          </a:xfrm>
          <a:prstGeom prst="rect">
            <a:avLst/>
          </a:prstGeom>
          <a:noFill/>
          <a:ln/>
        </p:spPr>
        <p:txBody>
          <a:bodyPr wrap="square" lIns="0" tIns="0" rIns="0" bIns="0" rtlCol="0" anchor="ctr"/>
          <a:lstStyle/>
          <a:p>
            <a:r>
              <a:rPr lang="en-US" sz="1100" dirty="0">
                <a:solidFill>
                  <a:srgbClr val="94A3B8"/>
                </a:solidFill>
                <a:latin typeface="Calibri"/>
                <a:ea typeface="Calibri"/>
                <a:cs typeface="Calibri"/>
              </a:rPr>
              <a:t>Tuning the decision threshold from 0.5 → 0.45 </a:t>
            </a:r>
            <a:r>
              <a:rPr lang="en-US" sz="1100">
                <a:solidFill>
                  <a:srgbClr val="94A3B8"/>
                </a:solidFill>
                <a:latin typeface="Calibri"/>
                <a:ea typeface="Calibri"/>
                <a:cs typeface="Calibri"/>
              </a:rPr>
              <a:t>improved recall without sacrificing overall accuracy - </a:t>
            </a:r>
            <a:r>
              <a:rPr lang="en-US" sz="1100" dirty="0">
                <a:solidFill>
                  <a:srgbClr val="94A3B8"/>
                </a:solidFill>
                <a:latin typeface="Calibri"/>
                <a:ea typeface="Calibri"/>
                <a:cs typeface="Calibri"/>
              </a:rPr>
              <a:t>a small tweak with real clinical impact.</a:t>
            </a:r>
            <a:endParaRPr lang="en-US" sz="1100" dirty="0">
              <a:latin typeface="Calibri"/>
              <a:ea typeface="Calibri"/>
              <a:cs typeface="Calibri"/>
            </a:endParaRPr>
          </a:p>
        </p:txBody>
      </p:sp>
      <p:sp>
        <p:nvSpPr>
          <p:cNvPr id="20" name="Text 18"/>
          <p:cNvSpPr/>
          <p:nvPr/>
        </p:nvSpPr>
        <p:spPr>
          <a:xfrm>
            <a:off x="457200" y="4780138"/>
            <a:ext cx="8229600" cy="292608"/>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Questions? We're happy to walk through the code, model choices, or SHAP outputs.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1A8EAC1-FC8D-0557-14F2-5D9487E72481}"/>
              </a:ext>
            </a:extLst>
          </p:cNvPr>
          <p:cNvSpPr/>
          <p:nvPr/>
        </p:nvSpPr>
        <p:spPr>
          <a:xfrm>
            <a:off x="370068" y="239521"/>
            <a:ext cx="6760761" cy="75607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dirty="0">
                <a:solidFill>
                  <a:srgbClr val="FFFFFF"/>
                </a:solidFill>
                <a:latin typeface="Calibri" pitchFamily="34" charset="0"/>
                <a:ea typeface="Calibri" pitchFamily="34" charset="-122"/>
                <a:cs typeface="Calibri" pitchFamily="34" charset="-120"/>
              </a:rPr>
              <a:t>Demo Time…</a:t>
            </a:r>
          </a:p>
        </p:txBody>
      </p:sp>
      <p:sp>
        <p:nvSpPr>
          <p:cNvPr id="27" name="Rectangle 2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3280915"/>
            <a:ext cx="9144005" cy="186258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105491" y="3280915"/>
            <a:ext cx="3038508" cy="1862585"/>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284571"/>
            <a:ext cx="9143988" cy="1465446"/>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 y="3285695"/>
            <a:ext cx="9144000" cy="151458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1">
            <a:extLst>
              <a:ext uri="{FF2B5EF4-FFF2-40B4-BE49-F238E27FC236}">
                <a16:creationId xmlns:a16="http://schemas.microsoft.com/office/drawing/2014/main" id="{E902E09D-5458-686E-283E-D1E9C94D500E}"/>
              </a:ext>
            </a:extLst>
          </p:cNvPr>
          <p:cNvSpPr/>
          <p:nvPr/>
        </p:nvSpPr>
        <p:spPr>
          <a:xfrm flipV="1">
            <a:off x="472394" y="980469"/>
            <a:ext cx="2167859" cy="51853"/>
          </a:xfrm>
          <a:prstGeom prst="rect">
            <a:avLst/>
          </a:prstGeom>
          <a:solidFill>
            <a:srgbClr val="0D9488"/>
          </a:solidFill>
          <a:ln w="12700">
            <a:solidFill>
              <a:srgbClr val="0D9488"/>
            </a:solidFill>
            <a:prstDash val="solid"/>
          </a:ln>
        </p:spPr>
        <p:txBody>
          <a:bodyPr/>
          <a:lstStyle/>
          <a:p>
            <a:endParaRPr lang="en-US"/>
          </a:p>
        </p:txBody>
      </p:sp>
    </p:spTree>
    <p:extLst>
      <p:ext uri="{BB962C8B-B14F-4D97-AF65-F5344CB8AC3E}">
        <p14:creationId xmlns:p14="http://schemas.microsoft.com/office/powerpoint/2010/main" val="1873078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1427</Words>
  <Application>Microsoft Office PowerPoint</Application>
  <PresentationFormat>On-screen Show (16:9)</PresentationFormat>
  <Paragraphs>172</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Disease Prediction System</dc:title>
  <dc:subject>PptxGenJS Presentation</dc:subject>
  <dc:creator>PptxGenJS</dc:creator>
  <cp:lastModifiedBy>Amanpreet Bhatia</cp:lastModifiedBy>
  <cp:revision>278</cp:revision>
  <dcterms:created xsi:type="dcterms:W3CDTF">2026-04-15T20:18:50Z</dcterms:created>
  <dcterms:modified xsi:type="dcterms:W3CDTF">2026-04-20T17:11:14Z</dcterms:modified>
</cp:coreProperties>
</file>